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c96bc1b28ac4ae5" /><Relationship Type="http://schemas.openxmlformats.org/officeDocument/2006/relationships/extended-properties" Target="/docProps/app.xml" Id="R91cde18c3ed04c43" /><Relationship Type="http://schemas.openxmlformats.org/officeDocument/2006/relationships/officeDocument" Target="/ppt/presentation.xml" Id="R2124ec31c9c643ed" /></Relationships>
</file>

<file path=ppt/presentation.xml><?xml version="1.0" encoding="utf-8"?>
<p:presentation xmlns:p="http://schemas.openxmlformats.org/presentationml/2006/main">
  <p:sldMasterIdLst>
    <p:sldMasterId xmlns:r="http://schemas.openxmlformats.org/officeDocument/2006/relationships" id="2147483648" r:id="R64c762d28f014867"/>
  </p:sldMasterIdLst>
  <p:notesMasterIdLst>
    <p:notesMasterId xmlns:r="http://schemas.openxmlformats.org/officeDocument/2006/relationships" r:id="R3200b231963b4dc1"/>
  </p:notesMasterIdLst>
  <p:sldIdLst>
    <p:sldId xmlns:r="http://schemas.openxmlformats.org/officeDocument/2006/relationships" id="256" r:id="R8a3bbaee73c6400a"/>
    <p:sldId xmlns:r="http://schemas.openxmlformats.org/officeDocument/2006/relationships" id="257" r:id="R24c447c5b2e14801"/>
    <p:sldId xmlns:r="http://schemas.openxmlformats.org/officeDocument/2006/relationships" id="258" r:id="Re74989456d924932"/>
    <p:sldId xmlns:r="http://schemas.openxmlformats.org/officeDocument/2006/relationships" id="259" r:id="R2a963abc61f84785"/>
    <p:sldId xmlns:r="http://schemas.openxmlformats.org/officeDocument/2006/relationships" id="260" r:id="R5fabaa102afd455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9e1b6b0b60425b" /><Relationship Type="http://schemas.openxmlformats.org/officeDocument/2006/relationships/slideMaster" Target="/ppt/slideMasters/slideMaster1.xml" Id="R64c762d28f014867" /><Relationship Type="http://schemas.openxmlformats.org/officeDocument/2006/relationships/notesMaster" Target="/ppt/notesMasters/notesMaster1.xml" Id="R3200b231963b4dc1" /><Relationship Type="http://schemas.openxmlformats.org/officeDocument/2006/relationships/presProps" Target="/ppt/presProps.xml" Id="R08df349a1d4b4174" /><Relationship Type="http://schemas.openxmlformats.org/officeDocument/2006/relationships/tableStyles" Target="/ppt/tableStyles.xml" Id="Rd0954bedf15f40de" /><Relationship Type="http://schemas.openxmlformats.org/officeDocument/2006/relationships/slide" Target="/ppt/slides/slide1.xml" Id="R8a3bbaee73c6400a" /><Relationship Type="http://schemas.openxmlformats.org/officeDocument/2006/relationships/slide" Target="/ppt/slides/slide2.xml" Id="R24c447c5b2e14801" /><Relationship Type="http://schemas.openxmlformats.org/officeDocument/2006/relationships/slide" Target="/ppt/slides/slide3.xml" Id="Re74989456d924932" /><Relationship Type="http://schemas.openxmlformats.org/officeDocument/2006/relationships/slide" Target="/ppt/slides/slide4.xml" Id="R2a963abc61f84785" /><Relationship Type="http://schemas.openxmlformats.org/officeDocument/2006/relationships/slide" Target="/ppt/slides/slide5.xml" Id="R5fabaa102afd45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d64bf6b0304d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96accd26b148aa" /><Relationship Type="http://schemas.openxmlformats.org/officeDocument/2006/relationships/notesMaster" Target="/ppt/notesMasters/notesMaster1.xml" Id="Raff66348434347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0261ff2fa44f04" /><Relationship Type="http://schemas.openxmlformats.org/officeDocument/2006/relationships/notesMaster" Target="/ppt/notesMasters/notesMaster1.xml" Id="Re803033741cb43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62f147f7f14f86" /><Relationship Type="http://schemas.openxmlformats.org/officeDocument/2006/relationships/notesMaster" Target="/ppt/notesMasters/notesMaster1.xml" Id="Rb712d6af59de48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907184092e4a89" /><Relationship Type="http://schemas.openxmlformats.org/officeDocument/2006/relationships/notesMaster" Target="/ppt/notesMasters/notesMaster1.xml" Id="R6bb2b2f6363842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5b517863ee4033" /><Relationship Type="http://schemas.openxmlformats.org/officeDocument/2006/relationships/notesMaster" Target="/ppt/notesMasters/notesMaster1.xml" Id="R83c48b6630fb4a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Portfolio restyling of supplied CM1 example slide 1. All names and business figures are fictional. Machine-generated story phrasing is retained with entity and numeric substitutions. All text, tables and charts are editable. The clean deck contains no source logos, corporate metadata, original workbook payloads or external Empower links. Production reporting used formatted Excel output to refresh PowerPoint text and charts through Empower. This standalone copy illustrates that output; it does not recreate the live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Portfolio restyling of supplied CM1 example slide 2. All names and business figures are fictional. Machine-generated story phrasing is retained with entity and numeric substitutions. All text, tables and charts are editable. The clean deck contains no source logos, corporate metadata, original workbook payloads or external Empower links. Production reporting used formatted Excel output to refresh PowerPoint text and charts through Empower. This standalone copy illustrates that output; it does not recreate the live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Portfolio restyling of supplied CM1 example slide 3. All names and business figures are fictional. Machine-generated story phrasing is retained with entity and numeric substitutions. All text, tables and charts are editable. The clean deck contains no source logos, corporate metadata, original workbook payloads or external Empower links. Production reporting used formatted Excel output to refresh PowerPoint text and charts through Empower. This standalone copy illustrates that output; it does not recreate the live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Portfolio restyling of supplied CM1 example slide 4. All names and business figures are fictional. Machine-generated story phrasing is retained with entity and numeric substitutions. All text, tables and charts are editable. The clean deck contains no source logos, corporate metadata, original workbook payloads or external Empower links. Production reporting used formatted Excel output to refresh PowerPoint text and charts through Empower. This standalone copy illustrates that output; it does not recreate the live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Portfolio restyling of supplied CM1 example slide 5. All names and business figures are fictional. Machine-generated story phrasing is retained with entity and numeric substitutions. All text, tables and charts are editable. The clean deck contains no source logos, corporate metadata, original workbook payloads or external Empower links. Production reporting used formatted Excel output to refresh PowerPoint text and charts through Empower. This standalone copy illustrates that output; it does not recreate the live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d3217302b34a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2b55a8f0534215" /><Relationship Type="http://schemas.openxmlformats.org/officeDocument/2006/relationships/slideLayout" Target="/ppt/slideLayouts/slideLayout1.xml" Id="R511aaa7c4f574c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1aaa7c4f574c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605a9c58924b5e" /><Relationship Type="http://schemas.openxmlformats.org/officeDocument/2006/relationships/chart" Target="/ppt/slides/charts/chart1.xml" Id="R0c26a492583b4e46" /><Relationship Type="http://schemas.openxmlformats.org/officeDocument/2006/relationships/notesSlide" Target="/ppt/notesSlides/notesSlide1.xml" Id="R994f0279a3f94e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d4ca511bf942f1" /><Relationship Type="http://schemas.openxmlformats.org/officeDocument/2006/relationships/notesSlide" Target="/ppt/notesSlides/notesSlide2.xml" Id="R43bb00aa957d43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cd11158442470b" /><Relationship Type="http://schemas.openxmlformats.org/officeDocument/2006/relationships/notesSlide" Target="/ppt/notesSlides/notesSlide3.xml" Id="R8621586caedf46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569888d1104246" /><Relationship Type="http://schemas.openxmlformats.org/officeDocument/2006/relationships/chart" Target="/ppt/slides/charts/chart2.xml" Id="Re82a333ec0a34ef9" /><Relationship Type="http://schemas.openxmlformats.org/officeDocument/2006/relationships/notesSlide" Target="/ppt/notesSlides/notesSlide4.xml" Id="R8920a404639349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dab5fb51fd8476a" /><Relationship Type="http://schemas.openxmlformats.org/officeDocument/2006/relationships/chart" Target="/ppt/slides/charts/chart3.xml" Id="Rf5d9ccbf852d4661" /><Relationship Type="http://schemas.openxmlformats.org/officeDocument/2006/relationships/chart" Target="/ppt/slides/charts/chart4.xml" Id="Rbcfb4309909848b5" /><Relationship Type="http://schemas.openxmlformats.org/officeDocument/2006/relationships/chart" Target="/ppt/slides/charts/chart5.xml" Id="Rd6f5afb97a454b7b" /><Relationship Type="http://schemas.openxmlformats.org/officeDocument/2006/relationships/notesSlide" Target="/ppt/notesSlides/notesSlide5.xml" Id="R72f312654d95433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basePos</c:v>
          </c:tx>
          <c:spPr>
            <a:noFill xmlns:a="http://schemas.openxmlformats.org/drawingml/2006/main"/>
            <a:ln xmlns:a="http://schemas.openxmlformats.org/drawingml/2006/main" w="0">
              <a:noFill/>
            </a:ln>
          </c:spPr>
          <c:cat>
            <c:strRef>
              <c:f>'Chart Data'!$A$2:$A$12</c:f>
              <c:strCache>
                <c:ptCount val="11"/>
                <c:pt idx="0">
                  <c:v>2.FC</c:v>
                </c:pt>
                <c:pt idx="1">
                  <c:v>Segment A</c:v>
                </c:pt>
                <c:pt idx="2">
                  <c:v>Segment E</c:v>
                </c:pt>
                <c:pt idx="3">
                  <c:v>Segment C</c:v>
                </c:pt>
                <c:pt idx="4">
                  <c:v>Segment G</c:v>
                </c:pt>
                <c:pt idx="5">
                  <c:v>Segment B</c:v>
                </c:pt>
                <c:pt idx="6">
                  <c:v>Segment D</c:v>
                </c:pt>
                <c:pt idx="7">
                  <c:v>Segment H</c:v>
                </c:pt>
                <c:pt idx="8">
                  <c:v>Segment F</c:v>
                </c:pt>
                <c:pt idx="9">
                  <c:v>Other / recon.</c:v>
                </c:pt>
                <c:pt idx="10">
                  <c:v>ACT</c:v>
                </c:pt>
              </c:strCache>
            </c:strRef>
          </c:cat>
          <c:val>
            <c:numRef>
              <c:f>'Chart Data'!$B$2:$B$12</c:f>
              <c:numCache>
                <c:formatCode>#,##0</c:formatCode>
                <c:ptCount val="11"/>
                <c:pt idx="0">
                  <c:v>0</c:v>
                </c:pt>
                <c:pt idx="1">
                  <c:v>92000</c:v>
                </c:pt>
                <c:pt idx="2">
                  <c:v>92720</c:v>
                </c:pt>
                <c:pt idx="3">
                  <c:v>93160</c:v>
                </c:pt>
                <c:pt idx="4">
                  <c:v>93170</c:v>
                </c:pt>
                <c:pt idx="5">
                  <c:v>93170</c:v>
                </c:pt>
                <c:pt idx="6">
                  <c:v>93350</c:v>
                </c:pt>
                <c:pt idx="7">
                  <c:v>93355</c:v>
                </c:pt>
                <c:pt idx="8">
                  <c:v>93340</c:v>
                </c:pt>
                <c:pt idx="9">
                  <c:v>93340</c:v>
                </c:pt>
                <c:pt idx="10">
                  <c:v>0</c:v>
                </c:pt>
              </c:numCache>
            </c:numRef>
          </c:val>
          <c:dLbls>
            <c:showLegendKey val="0"/>
            <c:showVal val="0"/>
            <c:showCatName val="0"/>
            <c:showSerName val="0"/>
            <c:showPercent val="0"/>
            <c:showBubbleSize val="0"/>
            <c:showLeaderLines val="0"/>
            <c:leaderLines>
              <c:spPr>
                <ns0:ln xmlns:ns0="http://schemas.openxmlformats.org/drawingml/2006/main" w="0">
                  <ns0:noFill/>
                </ns0:ln>
              </c:spPr>
            </c:leaderLines>
          </c:dLbls>
        </c:ser>
        <c:ser>
          <c:idx val="1"/>
          <c:order val="1"/>
          <c:tx>
            <c:v>baseNeg</c:v>
          </c:tx>
          <c:spPr>
            <a:noFill xmlns:a="http://schemas.openxmlformats.org/drawingml/2006/main"/>
            <a:ln xmlns:a="http://schemas.openxmlformats.org/drawingml/2006/main" w="0">
              <a:noFill/>
            </a:ln>
          </c:spPr>
          <c:cat>
            <c:strRef>
              <c:f>'Chart Data'!$C$2:$C$12</c:f>
              <c:strCache>
                <c:ptCount val="11"/>
                <c:pt idx="0">
                  <c:v>2.FC</c:v>
                </c:pt>
                <c:pt idx="1">
                  <c:v>Segment A</c:v>
                </c:pt>
                <c:pt idx="2">
                  <c:v>Segment E</c:v>
                </c:pt>
                <c:pt idx="3">
                  <c:v>Segment C</c:v>
                </c:pt>
                <c:pt idx="4">
                  <c:v>Segment G</c:v>
                </c:pt>
                <c:pt idx="5">
                  <c:v>Segment B</c:v>
                </c:pt>
                <c:pt idx="6">
                  <c:v>Segment D</c:v>
                </c:pt>
                <c:pt idx="7">
                  <c:v>Segment H</c:v>
                </c:pt>
                <c:pt idx="8">
                  <c:v>Segment F</c:v>
                </c:pt>
                <c:pt idx="9">
                  <c:v>Other / recon.</c:v>
                </c:pt>
                <c:pt idx="10">
                  <c:v>ACT</c:v>
                </c:pt>
              </c:strCache>
            </c:strRef>
          </c:cat>
          <c:val>
            <c:numRef>
              <c:f>'Chart Data'!$D$2:$D$12</c:f>
              <c:numCache>
                <c:formatCode>#,##0</c:formatCode>
                <c:ptCount val="11"/>
                <c:pt idx="0">
                  <c:v>0</c:v>
                </c:pt>
                <c:pt idx="1">
                  <c:v>0</c:v>
                </c:pt>
                <c:pt idx="2">
                  <c:v>0</c:v>
                </c:pt>
                <c:pt idx="3">
                  <c:v>0</c:v>
                </c:pt>
                <c:pt idx="4">
                  <c:v>0</c:v>
                </c:pt>
                <c:pt idx="5">
                  <c:v>0</c:v>
                </c:pt>
                <c:pt idx="6">
                  <c:v>0</c:v>
                </c:pt>
                <c:pt idx="7">
                  <c:v>0</c:v>
                </c:pt>
                <c:pt idx="8">
                  <c:v>0</c:v>
                </c:pt>
                <c:pt idx="9">
                  <c:v>0</c:v>
                </c:pt>
                <c:pt idx="10">
                  <c:v>0</c:v>
                </c:pt>
              </c:numCache>
            </c:numRef>
          </c:val>
          <c:dLbls>
            <c:showLegendKey val="0"/>
            <c:showVal val="0"/>
            <c:showCatName val="0"/>
            <c:showSerName val="0"/>
            <c:showPercent val="0"/>
            <c:showBubbleSize val="0"/>
            <c:showLeaderLines val="0"/>
            <c:leaderLines>
              <c:spPr>
                <ns1:ln xmlns:ns1="http://schemas.openxmlformats.org/drawingml/2006/main" w="0">
                  <ns1:noFill/>
                </ns1:ln>
              </c:spPr>
            </c:leaderLines>
          </c:dLbls>
        </c:ser>
        <c:ser>
          <c:idx val="2"/>
          <c:order val="2"/>
          <c:tx>
            <c:v>gainPos</c:v>
          </c:tx>
          <c:spPr>
            <a:solidFill xmlns:a="http://schemas.openxmlformats.org/drawingml/2006/main">
              <a:srgbClr val="087F72"/>
            </a:solidFill>
            <a:ln xmlns:a="http://schemas.openxmlformats.org/drawingml/2006/main" w="0">
              <a:noFill/>
            </a:ln>
          </c:spPr>
          <c:dLbls>
            <c:dLbl>
              <c:idx val="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+720</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ctr"/>
              <c:showLegendKey val="0"/>
              <c:showVal val="1"/>
              <c:showCatName val="0"/>
              <c:showSerName val="0"/>
              <c:showPercent val="0"/>
              <c:showBubbleSize val="0"/>
            </c:dLbl>
            <c:dLbl>
              <c:idx val="2"/>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+440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3"/>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+230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4"/>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5"/>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+180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6"/>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+40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7"/>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8"/>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9"/>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+160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1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2:ln xmlns:ns2="http://schemas.openxmlformats.org/drawingml/2006/main" w="0">
                  <ns2:noFill/>
                </ns2:ln>
              </c:spPr>
            </c:leaderLines>
          </c:dLbls>
          <c:cat>
            <c:strRef>
              <c:f>'Chart Data'!$E$2:$E$12</c:f>
              <c:strCache>
                <c:ptCount val="11"/>
                <c:pt idx="0">
                  <c:v>2.FC</c:v>
                </c:pt>
                <c:pt idx="1">
                  <c:v>Segment A</c:v>
                </c:pt>
                <c:pt idx="2">
                  <c:v>Segment E</c:v>
                </c:pt>
                <c:pt idx="3">
                  <c:v>Segment C</c:v>
                </c:pt>
                <c:pt idx="4">
                  <c:v>Segment G</c:v>
                </c:pt>
                <c:pt idx="5">
                  <c:v>Segment B</c:v>
                </c:pt>
                <c:pt idx="6">
                  <c:v>Segment D</c:v>
                </c:pt>
                <c:pt idx="7">
                  <c:v>Segment H</c:v>
                </c:pt>
                <c:pt idx="8">
                  <c:v>Segment F</c:v>
                </c:pt>
                <c:pt idx="9">
                  <c:v>Other / recon.</c:v>
                </c:pt>
                <c:pt idx="10">
                  <c:v>ACT</c:v>
                </c:pt>
              </c:strCache>
            </c:strRef>
          </c:cat>
          <c:val>
            <c:numRef>
              <c:f>'Chart Data'!$F$2:$F$12</c:f>
              <c:numCache>
                <c:formatCode>#,##0</c:formatCode>
                <c:ptCount val="11"/>
                <c:pt idx="0">
                  <c:v>0</c:v>
                </c:pt>
                <c:pt idx="1">
                  <c:v>720</c:v>
                </c:pt>
                <c:pt idx="2">
                  <c:v>440</c:v>
                </c:pt>
                <c:pt idx="3">
                  <c:v>230</c:v>
                </c:pt>
                <c:pt idx="4">
                  <c:v>0</c:v>
                </c:pt>
                <c:pt idx="5">
                  <c:v>180</c:v>
                </c:pt>
                <c:pt idx="6">
                  <c:v>40</c:v>
                </c:pt>
                <c:pt idx="7">
                  <c:v>0</c:v>
                </c:pt>
                <c:pt idx="8">
                  <c:v>0</c:v>
                </c:pt>
                <c:pt idx="9">
                  <c:v>160</c:v>
                </c:pt>
                <c:pt idx="10">
                  <c:v>0</c:v>
                </c:pt>
              </c:numCache>
            </c:numRef>
          </c:val>
        </c:ser>
        <c:ser>
          <c:idx val="3"/>
          <c:order val="3"/>
          <c:tx>
            <c:v>gainNeg</c:v>
          </c:tx>
          <c:spPr>
            <a:solidFill xmlns:a="http://schemas.openxmlformats.org/drawingml/2006/main">
              <a:srgbClr val="087F72"/>
            </a:solidFill>
            <a:ln xmlns:a="http://schemas.openxmlformats.org/drawingml/2006/main" w="0">
              <a:noFill/>
            </a:ln>
          </c:spPr>
          <c:dLbls>
            <c:dLbl>
              <c:idx val="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2"/>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3"/>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4"/>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5"/>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6"/>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7"/>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8"/>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9"/>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3:ln xmlns:ns3="http://schemas.openxmlformats.org/drawingml/2006/main" w="0">
                  <ns3:noFill/>
                </ns3:ln>
              </c:spPr>
            </c:leaderLines>
          </c:dLbls>
          <c:cat>
            <c:strRef>
              <c:f>'Chart Data'!$G$2:$G$12</c:f>
              <c:strCache>
                <c:ptCount val="11"/>
                <c:pt idx="0">
                  <c:v>2.FC</c:v>
                </c:pt>
                <c:pt idx="1">
                  <c:v>Segment A</c:v>
                </c:pt>
                <c:pt idx="2">
                  <c:v>Segment E</c:v>
                </c:pt>
                <c:pt idx="3">
                  <c:v>Segment C</c:v>
                </c:pt>
                <c:pt idx="4">
                  <c:v>Segment G</c:v>
                </c:pt>
                <c:pt idx="5">
                  <c:v>Segment B</c:v>
                </c:pt>
                <c:pt idx="6">
                  <c:v>Segment D</c:v>
                </c:pt>
                <c:pt idx="7">
                  <c:v>Segment H</c:v>
                </c:pt>
                <c:pt idx="8">
                  <c:v>Segment F</c:v>
                </c:pt>
                <c:pt idx="9">
                  <c:v>Other / recon.</c:v>
                </c:pt>
                <c:pt idx="10">
                  <c:v>ACT</c:v>
                </c:pt>
              </c:strCache>
            </c:strRef>
          </c:cat>
          <c:val>
            <c:numRef>
              <c:f>'Chart Data'!$H$2:$H$12</c:f>
              <c:numCache>
                <c:formatCode>#,##0</c:formatCode>
                <c:ptCount val="11"/>
                <c:pt idx="0">
                  <c:v>0</c:v>
                </c:pt>
                <c:pt idx="1">
                  <c:v>0</c:v>
                </c:pt>
                <c:pt idx="2">
                  <c:v>0</c:v>
                </c:pt>
                <c:pt idx="3">
                  <c:v>0</c:v>
                </c:pt>
                <c:pt idx="4">
                  <c:v>0</c:v>
                </c:pt>
                <c:pt idx="5">
                  <c:v>0</c:v>
                </c:pt>
                <c:pt idx="6">
                  <c:v>0</c:v>
                </c:pt>
                <c:pt idx="7">
                  <c:v>0</c:v>
                </c:pt>
                <c:pt idx="8">
                  <c:v>0</c:v>
                </c:pt>
                <c:pt idx="9">
                  <c:v>0</c:v>
                </c:pt>
                <c:pt idx="10">
                  <c:v>0</c:v>
                </c:pt>
              </c:numCache>
            </c:numRef>
          </c:val>
        </c:ser>
        <c:ser>
          <c:idx val="4"/>
          <c:order val="4"/>
          <c:tx>
            <c:v>lossPos</c:v>
          </c:tx>
          <c:spPr>
            <a:solidFill xmlns:a="http://schemas.openxmlformats.org/drawingml/2006/main">
              <a:srgbClr val="87978E"/>
            </a:solidFill>
            <a:ln xmlns:a="http://schemas.openxmlformats.org/drawingml/2006/main" w="0">
              <a:noFill/>
            </a:ln>
          </c:spPr>
          <c:dLbls>
            <c:dLbl>
              <c:idx val="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2"/>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3"/>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4"/>
              <c:layout>
                <c:manualLayout>
                  <c:xMode val="edge"/>
                  <c:yMode val="edge"/>
                  <c:x val="0"/>
                  <c:y val="0.09"/>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-220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5"/>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6"/>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7"/>
              <c:layout>
                <c:manualLayout>
                  <c:xMode val="edge"/>
                  <c:yMode val="edge"/>
                  <c:x val="0"/>
                  <c:y val="0.09"/>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-35</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8"/>
              <c:layout>
                <c:manualLayout>
                  <c:xMode val="edge"/>
                  <c:yMode val="edge"/>
                  <c:x val="0"/>
                  <c:y val="0.09"/>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-15</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9"/>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4:ln xmlns:ns4="http://schemas.openxmlformats.org/drawingml/2006/main" w="0">
                  <ns4:noFill/>
                </ns4:ln>
              </c:spPr>
            </c:leaderLines>
          </c:dLbls>
          <c:cat>
            <c:strRef>
              <c:f>'Chart Data'!$I$2:$I$12</c:f>
              <c:strCache>
                <c:ptCount val="11"/>
                <c:pt idx="0">
                  <c:v>2.FC</c:v>
                </c:pt>
                <c:pt idx="1">
                  <c:v>Segment A</c:v>
                </c:pt>
                <c:pt idx="2">
                  <c:v>Segment E</c:v>
                </c:pt>
                <c:pt idx="3">
                  <c:v>Segment C</c:v>
                </c:pt>
                <c:pt idx="4">
                  <c:v>Segment G</c:v>
                </c:pt>
                <c:pt idx="5">
                  <c:v>Segment B</c:v>
                </c:pt>
                <c:pt idx="6">
                  <c:v>Segment D</c:v>
                </c:pt>
                <c:pt idx="7">
                  <c:v>Segment H</c:v>
                </c:pt>
                <c:pt idx="8">
                  <c:v>Segment F</c:v>
                </c:pt>
                <c:pt idx="9">
                  <c:v>Other / recon.</c:v>
                </c:pt>
                <c:pt idx="10">
                  <c:v>ACT</c:v>
                </c:pt>
              </c:strCache>
            </c:strRef>
          </c:cat>
          <c:val>
            <c:numRef>
              <c:f>'Chart Data'!$J$2:$J$12</c:f>
              <c:numCache>
                <c:formatCode>#,##0</c:formatCode>
                <c:ptCount val="11"/>
                <c:pt idx="0">
                  <c:v>0</c:v>
                </c:pt>
                <c:pt idx="1">
                  <c:v>0</c:v>
                </c:pt>
                <c:pt idx="2">
                  <c:v>0</c:v>
                </c:pt>
                <c:pt idx="3">
                  <c:v>0</c:v>
                </c:pt>
                <c:pt idx="4">
                  <c:v>220</c:v>
                </c:pt>
                <c:pt idx="5">
                  <c:v>0</c:v>
                </c:pt>
                <c:pt idx="6">
                  <c:v>0</c:v>
                </c:pt>
                <c:pt idx="7">
                  <c:v>35</c:v>
                </c:pt>
                <c:pt idx="8">
                  <c:v>15</c:v>
                </c:pt>
                <c:pt idx="9">
                  <c:v>0</c:v>
                </c:pt>
                <c:pt idx="10">
                  <c:v>0</c:v>
                </c:pt>
              </c:numCache>
            </c:numRef>
          </c:val>
        </c:ser>
        <c:ser>
          <c:idx val="5"/>
          <c:order val="5"/>
          <c:tx>
            <c:v>lossNeg</c:v>
          </c:tx>
          <c:spPr>
            <a:solidFill xmlns:a="http://schemas.openxmlformats.org/drawingml/2006/main">
              <a:srgbClr val="87978E"/>
            </a:solidFill>
            <a:ln xmlns:a="http://schemas.openxmlformats.org/drawingml/2006/main" w="0">
              <a:noFill/>
            </a:ln>
          </c:spPr>
          <c:dLbls>
            <c:dLbl>
              <c:idx val="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2"/>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3"/>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4"/>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5"/>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6"/>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7"/>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8"/>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9"/>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5:ln xmlns:ns5="http://schemas.openxmlformats.org/drawingml/2006/main" w="0">
                  <ns5:noFill/>
                </ns5:ln>
              </c:spPr>
            </c:leaderLines>
          </c:dLbls>
          <c:cat>
            <c:strRef>
              <c:f>'Chart Data'!$K$2:$K$12</c:f>
              <c:strCache>
                <c:ptCount val="11"/>
                <c:pt idx="0">
                  <c:v>2.FC</c:v>
                </c:pt>
                <c:pt idx="1">
                  <c:v>Segment A</c:v>
                </c:pt>
                <c:pt idx="2">
                  <c:v>Segment E</c:v>
                </c:pt>
                <c:pt idx="3">
                  <c:v>Segment C</c:v>
                </c:pt>
                <c:pt idx="4">
                  <c:v>Segment G</c:v>
                </c:pt>
                <c:pt idx="5">
                  <c:v>Segment B</c:v>
                </c:pt>
                <c:pt idx="6">
                  <c:v>Segment D</c:v>
                </c:pt>
                <c:pt idx="7">
                  <c:v>Segment H</c:v>
                </c:pt>
                <c:pt idx="8">
                  <c:v>Segment F</c:v>
                </c:pt>
                <c:pt idx="9">
                  <c:v>Other / recon.</c:v>
                </c:pt>
                <c:pt idx="10">
                  <c:v>ACT</c:v>
                </c:pt>
              </c:strCache>
            </c:strRef>
          </c:cat>
          <c:val>
            <c:numRef>
              <c:f>'Chart Data'!$L$2:$L$12</c:f>
              <c:numCache>
                <c:formatCode>#,##0</c:formatCode>
                <c:ptCount val="11"/>
                <c:pt idx="0">
                  <c:v>0</c:v>
                </c:pt>
                <c:pt idx="1">
                  <c:v>0</c:v>
                </c:pt>
                <c:pt idx="2">
                  <c:v>0</c:v>
                </c:pt>
                <c:pt idx="3">
                  <c:v>0</c:v>
                </c:pt>
                <c:pt idx="4">
                  <c:v>0</c:v>
                </c:pt>
                <c:pt idx="5">
                  <c:v>0</c:v>
                </c:pt>
                <c:pt idx="6">
                  <c:v>0</c:v>
                </c:pt>
                <c:pt idx="7">
                  <c:v>0</c:v>
                </c:pt>
                <c:pt idx="8">
                  <c:v>0</c:v>
                </c:pt>
                <c:pt idx="9">
                  <c:v>0</c:v>
                </c:pt>
                <c:pt idx="10">
                  <c:v>0</c:v>
                </c:pt>
              </c:numCache>
            </c:numRef>
          </c:val>
        </c:ser>
        <c:ser>
          <c:idx val="6"/>
          <c:order val="6"/>
          <c:tx>
            <c:v>total</c:v>
          </c:tx>
          <c:spPr>
            <a:solidFill xmlns:a="http://schemas.openxmlformats.org/drawingml/2006/main">
              <a:srgbClr val="17221F"/>
            </a:solidFill>
            <a:ln xmlns:a="http://schemas.openxmlformats.org/drawingml/2006/main" w="0">
              <a:noFill/>
            </a:ln>
          </c:spPr>
          <c:dLbls>
            <c:dLbl>
              <c:idx val="0"/>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92,000</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1"/>
              <c:showCatName val="0"/>
              <c:showSerName val="0"/>
              <c:showPercent val="0"/>
              <c:showBubbleSize val="0"/>
            </c:dLbl>
            <c:dLbl>
              <c:idx val="1"/>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2"/>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3"/>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4"/>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5"/>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6"/>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7"/>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8"/>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9"/>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10"/>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93,500</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1"/>
              <c:showCatName val="0"/>
              <c:showSerName val="0"/>
              <c:showPercent val="0"/>
              <c:showBubbleSize val="0"/>
            </c:dLbl>
            <c:showLeaderLines val="0"/>
            <c:leaderLines>
              <c:spPr>
                <ns6:ln xmlns:ns6="http://schemas.openxmlformats.org/drawingml/2006/main" w="0">
                  <ns6:noFill/>
                </ns6:ln>
              </c:spPr>
            </c:leaderLines>
          </c:dLbls>
          <c:cat>
            <c:strRef>
              <c:f>'Chart Data'!$M$2:$M$12</c:f>
              <c:strCache>
                <c:ptCount val="11"/>
                <c:pt idx="0">
                  <c:v>2.FC</c:v>
                </c:pt>
                <c:pt idx="1">
                  <c:v>Segment A</c:v>
                </c:pt>
                <c:pt idx="2">
                  <c:v>Segment E</c:v>
                </c:pt>
                <c:pt idx="3">
                  <c:v>Segment C</c:v>
                </c:pt>
                <c:pt idx="4">
                  <c:v>Segment G</c:v>
                </c:pt>
                <c:pt idx="5">
                  <c:v>Segment B</c:v>
                </c:pt>
                <c:pt idx="6">
                  <c:v>Segment D</c:v>
                </c:pt>
                <c:pt idx="7">
                  <c:v>Segment H</c:v>
                </c:pt>
                <c:pt idx="8">
                  <c:v>Segment F</c:v>
                </c:pt>
                <c:pt idx="9">
                  <c:v>Other / recon.</c:v>
                </c:pt>
                <c:pt idx="10">
                  <c:v>ACT</c:v>
                </c:pt>
              </c:strCache>
            </c:strRef>
          </c:cat>
          <c:val>
            <c:numRef>
              <c:f>'Chart Data'!$N$2:$N$12</c:f>
              <c:numCache>
                <c:formatCode>#,##0</c:formatCode>
                <c:ptCount val="11"/>
                <c:pt idx="0">
                  <c:v>92000</c:v>
                </c:pt>
                <c:pt idx="1">
                  <c:v>0</c:v>
                </c:pt>
                <c:pt idx="2">
                  <c:v>0</c:v>
                </c:pt>
                <c:pt idx="3">
                  <c:v>0</c:v>
                </c:pt>
                <c:pt idx="4">
                  <c:v>0</c:v>
                </c:pt>
                <c:pt idx="5">
                  <c:v>0</c:v>
                </c:pt>
                <c:pt idx="6">
                  <c:v>0</c:v>
                </c:pt>
                <c:pt idx="7">
                  <c:v>0</c:v>
                </c:pt>
                <c:pt idx="8">
                  <c:v>0</c:v>
                </c:pt>
                <c:pt idx="9">
                  <c:v>0</c:v>
                </c:pt>
                <c:pt idx="10">
                  <c:v>93500</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showLeaderLines val="0"/>
          <c:leaderLines>
            <c:spPr>
              <ns7:ln xmlns:ns7="http://schemas.openxmlformats.org/drawingml/2006/main" w="0">
                <ns7:noFill/>
              </ns7:ln>
            </c:spPr>
          </c:leaderLines>
        </c:dLbls>
        <c:gapWidth val="50"/>
        <c:overlap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ED9"/>
            </a:solidFill>
          </a:ln>
        </c:spPr>
        <c:txPr>
          <a:bodyPr xmlns:a="http://schemas.openxmlformats.org/drawingml/2006/main" anchorCtr="1"/>
          <a:lstStyle xmlns:a="http://schemas.openxmlformats.org/drawingml/2006/main"/>
          <a:p xmlns:a="http://schemas.openxmlformats.org/drawingml/2006/main">
            <a:pPr>
              <a:defRPr sz="1350">
                <a:solidFill>
                  <a:srgbClr val="54625D"/>
                </a:solidFill>
                <a:latin typeface="Arial"/>
                <a:ea typeface="Arial"/>
                <a:cs typeface="Arial"/>
              </a:defRPr>
            </a:pPr>
          </a:p>
        </c:txPr>
        <c:crossAx val="48672768"/>
      </c:catAx>
      <c:valAx>
        <c:axId val="48672768"/>
        <c:scaling>
          <c:orientation val="minMax"/>
          <c:max val="94200"/>
          <c:min val="90000"/>
        </c:scaling>
        <c:delete val="0"/>
        <c:axPos val="l"/>
        <c:numFmt formatCode="#,##0"/>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4625D"/>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basePos</c:v>
          </c:tx>
          <c:spPr>
            <a:noFill xmlns:a="http://schemas.openxmlformats.org/drawingml/2006/main"/>
            <a:ln xmlns:a="http://schemas.openxmlformats.org/drawingml/2006/main" w="0">
              <a:noFill/>
            </a:ln>
          </c:spPr>
          <c:cat>
            <c:strRef>
              <c:f>'Chart Data'!$A$2:$A$12</c:f>
              <c:strCache>
                <c:ptCount val="11"/>
                <c:pt idx="0">
                  <c:v>2.FC</c:v>
                </c:pt>
                <c:pt idx="1">
                  <c:v>Country H</c:v>
                </c:pt>
                <c:pt idx="2">
                  <c:v>Country D</c:v>
                </c:pt>
                <c:pt idx="3">
                  <c:v>Country C</c:v>
                </c:pt>
                <c:pt idx="4">
                  <c:v>Country B</c:v>
                </c:pt>
                <c:pt idx="5">
                  <c:v>Country A</c:v>
                </c:pt>
                <c:pt idx="6">
                  <c:v>Export view</c:v>
                </c:pt>
                <c:pt idx="7">
                  <c:v>Country E</c:v>
                </c:pt>
                <c:pt idx="8">
                  <c:v>Country G</c:v>
                </c:pt>
                <c:pt idx="9">
                  <c:v>Country F</c:v>
                </c:pt>
                <c:pt idx="10">
                  <c:v>ACT</c:v>
                </c:pt>
              </c:strCache>
            </c:strRef>
          </c:cat>
          <c:val>
            <c:numRef>
              <c:f>'Chart Data'!$B$2:$B$12</c:f>
              <c:numCache>
                <c:formatCode>#,##0</c:formatCode>
                <c:ptCount val="11"/>
                <c:pt idx="0">
                  <c:v>0</c:v>
                </c:pt>
                <c:pt idx="1">
                  <c:v>91590</c:v>
                </c:pt>
                <c:pt idx="2">
                  <c:v>91190</c:v>
                </c:pt>
                <c:pt idx="3">
                  <c:v>90890</c:v>
                </c:pt>
                <c:pt idx="4">
                  <c:v>90850</c:v>
                </c:pt>
                <c:pt idx="5">
                  <c:v>90838</c:v>
                </c:pt>
                <c:pt idx="6">
                  <c:v>90834</c:v>
                </c:pt>
                <c:pt idx="7">
                  <c:v>90834</c:v>
                </c:pt>
                <c:pt idx="8">
                  <c:v>90894</c:v>
                </c:pt>
                <c:pt idx="9">
                  <c:v>91344</c:v>
                </c:pt>
                <c:pt idx="10">
                  <c:v>0</c:v>
                </c:pt>
              </c:numCache>
            </c:numRef>
          </c:val>
          <c:dLbls>
            <c:showLegendKey val="0"/>
            <c:showVal val="0"/>
            <c:showCatName val="0"/>
            <c:showSerName val="0"/>
            <c:showPercent val="0"/>
            <c:showBubbleSize val="0"/>
            <c:showLeaderLines val="0"/>
            <c:leaderLines>
              <c:spPr>
                <ns0:ln xmlns:ns0="http://schemas.openxmlformats.org/drawingml/2006/main" w="0">
                  <ns0:noFill/>
                </ns0:ln>
              </c:spPr>
            </c:leaderLines>
          </c:dLbls>
        </c:ser>
        <c:ser>
          <c:idx val="1"/>
          <c:order val="1"/>
          <c:tx>
            <c:v>baseNeg</c:v>
          </c:tx>
          <c:spPr>
            <a:noFill xmlns:a="http://schemas.openxmlformats.org/drawingml/2006/main"/>
            <a:ln xmlns:a="http://schemas.openxmlformats.org/drawingml/2006/main" w="0">
              <a:noFill/>
            </a:ln>
          </c:spPr>
          <c:cat>
            <c:strRef>
              <c:f>'Chart Data'!$C$2:$C$12</c:f>
              <c:strCache>
                <c:ptCount val="11"/>
                <c:pt idx="0">
                  <c:v>2.FC</c:v>
                </c:pt>
                <c:pt idx="1">
                  <c:v>Country H</c:v>
                </c:pt>
                <c:pt idx="2">
                  <c:v>Country D</c:v>
                </c:pt>
                <c:pt idx="3">
                  <c:v>Country C</c:v>
                </c:pt>
                <c:pt idx="4">
                  <c:v>Country B</c:v>
                </c:pt>
                <c:pt idx="5">
                  <c:v>Country A</c:v>
                </c:pt>
                <c:pt idx="6">
                  <c:v>Export view</c:v>
                </c:pt>
                <c:pt idx="7">
                  <c:v>Country E</c:v>
                </c:pt>
                <c:pt idx="8">
                  <c:v>Country G</c:v>
                </c:pt>
                <c:pt idx="9">
                  <c:v>Country F</c:v>
                </c:pt>
                <c:pt idx="10">
                  <c:v>ACT</c:v>
                </c:pt>
              </c:strCache>
            </c:strRef>
          </c:cat>
          <c:val>
            <c:numRef>
              <c:f>'Chart Data'!$D$2:$D$12</c:f>
              <c:numCache>
                <c:formatCode>#,##0</c:formatCode>
                <c:ptCount val="11"/>
                <c:pt idx="0">
                  <c:v>0</c:v>
                </c:pt>
                <c:pt idx="1">
                  <c:v>0</c:v>
                </c:pt>
                <c:pt idx="2">
                  <c:v>0</c:v>
                </c:pt>
                <c:pt idx="3">
                  <c:v>0</c:v>
                </c:pt>
                <c:pt idx="4">
                  <c:v>0</c:v>
                </c:pt>
                <c:pt idx="5">
                  <c:v>0</c:v>
                </c:pt>
                <c:pt idx="6">
                  <c:v>0</c:v>
                </c:pt>
                <c:pt idx="7">
                  <c:v>0</c:v>
                </c:pt>
                <c:pt idx="8">
                  <c:v>0</c:v>
                </c:pt>
                <c:pt idx="9">
                  <c:v>0</c:v>
                </c:pt>
                <c:pt idx="10">
                  <c:v>0</c:v>
                </c:pt>
              </c:numCache>
            </c:numRef>
          </c:val>
          <c:dLbls>
            <c:showLegendKey val="0"/>
            <c:showVal val="0"/>
            <c:showCatName val="0"/>
            <c:showSerName val="0"/>
            <c:showPercent val="0"/>
            <c:showBubbleSize val="0"/>
            <c:showLeaderLines val="0"/>
            <c:leaderLines>
              <c:spPr>
                <ns1:ln xmlns:ns1="http://schemas.openxmlformats.org/drawingml/2006/main" w="0">
                  <ns1:noFill/>
                </ns1:ln>
              </c:spPr>
            </c:leaderLines>
          </c:dLbls>
        </c:ser>
        <c:ser>
          <c:idx val="2"/>
          <c:order val="2"/>
          <c:tx>
            <c:v>gainPos</c:v>
          </c:tx>
          <c:spPr>
            <a:solidFill xmlns:a="http://schemas.openxmlformats.org/drawingml/2006/main">
              <a:srgbClr val="087F72"/>
            </a:solidFill>
            <a:ln xmlns:a="http://schemas.openxmlformats.org/drawingml/2006/main" w="0">
              <a:noFill/>
            </a:ln>
          </c:spPr>
          <c:dLbls>
            <c:dLbl>
              <c:idx val="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2"/>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3"/>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4"/>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5"/>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6"/>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7"/>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+60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8"/>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+450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9"/>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+2,156</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ctr"/>
              <c:showLegendKey val="0"/>
              <c:showVal val="1"/>
              <c:showCatName val="0"/>
              <c:showSerName val="0"/>
              <c:showPercent val="0"/>
              <c:showBubbleSize val="0"/>
            </c:dLbl>
            <c:dLbl>
              <c:idx val="1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2:ln xmlns:ns2="http://schemas.openxmlformats.org/drawingml/2006/main" w="0">
                  <ns2:noFill/>
                </ns2:ln>
              </c:spPr>
            </c:leaderLines>
          </c:dLbls>
          <c:cat>
            <c:strRef>
              <c:f>'Chart Data'!$E$2:$E$12</c:f>
              <c:strCache>
                <c:ptCount val="11"/>
                <c:pt idx="0">
                  <c:v>2.FC</c:v>
                </c:pt>
                <c:pt idx="1">
                  <c:v>Country H</c:v>
                </c:pt>
                <c:pt idx="2">
                  <c:v>Country D</c:v>
                </c:pt>
                <c:pt idx="3">
                  <c:v>Country C</c:v>
                </c:pt>
                <c:pt idx="4">
                  <c:v>Country B</c:v>
                </c:pt>
                <c:pt idx="5">
                  <c:v>Country A</c:v>
                </c:pt>
                <c:pt idx="6">
                  <c:v>Export view</c:v>
                </c:pt>
                <c:pt idx="7">
                  <c:v>Country E</c:v>
                </c:pt>
                <c:pt idx="8">
                  <c:v>Country G</c:v>
                </c:pt>
                <c:pt idx="9">
                  <c:v>Country F</c:v>
                </c:pt>
                <c:pt idx="10">
                  <c:v>ACT</c:v>
                </c:pt>
              </c:strCache>
            </c:strRef>
          </c:cat>
          <c:val>
            <c:numRef>
              <c:f>'Chart Data'!$F$2:$F$12</c:f>
              <c:numCache>
                <c:formatCode>#,##0</c:formatCode>
                <c:ptCount val="11"/>
                <c:pt idx="0">
                  <c:v>0</c:v>
                </c:pt>
                <c:pt idx="1">
                  <c:v>0</c:v>
                </c:pt>
                <c:pt idx="2">
                  <c:v>0</c:v>
                </c:pt>
                <c:pt idx="3">
                  <c:v>0</c:v>
                </c:pt>
                <c:pt idx="4">
                  <c:v>0</c:v>
                </c:pt>
                <c:pt idx="5">
                  <c:v>0</c:v>
                </c:pt>
                <c:pt idx="6">
                  <c:v>0</c:v>
                </c:pt>
                <c:pt idx="7">
                  <c:v>60</c:v>
                </c:pt>
                <c:pt idx="8">
                  <c:v>450</c:v>
                </c:pt>
                <c:pt idx="9">
                  <c:v>2156</c:v>
                </c:pt>
                <c:pt idx="10">
                  <c:v>0</c:v>
                </c:pt>
              </c:numCache>
            </c:numRef>
          </c:val>
        </c:ser>
        <c:ser>
          <c:idx val="3"/>
          <c:order val="3"/>
          <c:tx>
            <c:v>gainNeg</c:v>
          </c:tx>
          <c:spPr>
            <a:solidFill xmlns:a="http://schemas.openxmlformats.org/drawingml/2006/main">
              <a:srgbClr val="087F72"/>
            </a:solidFill>
            <a:ln xmlns:a="http://schemas.openxmlformats.org/drawingml/2006/main" w="0">
              <a:noFill/>
            </a:ln>
          </c:spPr>
          <c:dLbls>
            <c:dLbl>
              <c:idx val="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2"/>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3"/>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4"/>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5"/>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6"/>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7"/>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8"/>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9"/>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3:ln xmlns:ns3="http://schemas.openxmlformats.org/drawingml/2006/main" w="0">
                  <ns3:noFill/>
                </ns3:ln>
              </c:spPr>
            </c:leaderLines>
          </c:dLbls>
          <c:cat>
            <c:strRef>
              <c:f>'Chart Data'!$G$2:$G$12</c:f>
              <c:strCache>
                <c:ptCount val="11"/>
                <c:pt idx="0">
                  <c:v>2.FC</c:v>
                </c:pt>
                <c:pt idx="1">
                  <c:v>Country H</c:v>
                </c:pt>
                <c:pt idx="2">
                  <c:v>Country D</c:v>
                </c:pt>
                <c:pt idx="3">
                  <c:v>Country C</c:v>
                </c:pt>
                <c:pt idx="4">
                  <c:v>Country B</c:v>
                </c:pt>
                <c:pt idx="5">
                  <c:v>Country A</c:v>
                </c:pt>
                <c:pt idx="6">
                  <c:v>Export view</c:v>
                </c:pt>
                <c:pt idx="7">
                  <c:v>Country E</c:v>
                </c:pt>
                <c:pt idx="8">
                  <c:v>Country G</c:v>
                </c:pt>
                <c:pt idx="9">
                  <c:v>Country F</c:v>
                </c:pt>
                <c:pt idx="10">
                  <c:v>ACT</c:v>
                </c:pt>
              </c:strCache>
            </c:strRef>
          </c:cat>
          <c:val>
            <c:numRef>
              <c:f>'Chart Data'!$H$2:$H$12</c:f>
              <c:numCache>
                <c:formatCode>#,##0</c:formatCode>
                <c:ptCount val="11"/>
                <c:pt idx="0">
                  <c:v>0</c:v>
                </c:pt>
                <c:pt idx="1">
                  <c:v>0</c:v>
                </c:pt>
                <c:pt idx="2">
                  <c:v>0</c:v>
                </c:pt>
                <c:pt idx="3">
                  <c:v>0</c:v>
                </c:pt>
                <c:pt idx="4">
                  <c:v>0</c:v>
                </c:pt>
                <c:pt idx="5">
                  <c:v>0</c:v>
                </c:pt>
                <c:pt idx="6">
                  <c:v>0</c:v>
                </c:pt>
                <c:pt idx="7">
                  <c:v>0</c:v>
                </c:pt>
                <c:pt idx="8">
                  <c:v>0</c:v>
                </c:pt>
                <c:pt idx="9">
                  <c:v>0</c:v>
                </c:pt>
                <c:pt idx="10">
                  <c:v>0</c:v>
                </c:pt>
              </c:numCache>
            </c:numRef>
          </c:val>
        </c:ser>
        <c:ser>
          <c:idx val="4"/>
          <c:order val="4"/>
          <c:tx>
            <c:v>lossPos</c:v>
          </c:tx>
          <c:spPr>
            <a:solidFill xmlns:a="http://schemas.openxmlformats.org/drawingml/2006/main">
              <a:srgbClr val="87978E"/>
            </a:solidFill>
            <a:ln xmlns:a="http://schemas.openxmlformats.org/drawingml/2006/main" w="0">
              <a:noFill/>
            </a:ln>
          </c:spPr>
          <c:dLbls>
            <c:dLbl>
              <c:idx val="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
              <c:layout>
                <c:manualLayout>
                  <c:xMode val="edge"/>
                  <c:yMode val="edge"/>
                  <c:x val="0"/>
                  <c:y val="0.09"/>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-410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2"/>
              <c:layout>
                <c:manualLayout>
                  <c:xMode val="edge"/>
                  <c:yMode val="edge"/>
                  <c:x val="0"/>
                  <c:y val="0.09"/>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-400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3"/>
              <c:layout>
                <c:manualLayout>
                  <c:xMode val="edge"/>
                  <c:yMode val="edge"/>
                  <c:x val="0"/>
                  <c:y val="0.09"/>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-300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4"/>
              <c:layout>
                <c:manualLayout>
                  <c:xMode val="edge"/>
                  <c:yMode val="edge"/>
                  <c:x val="0"/>
                  <c:y val="0.09"/>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-40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5"/>
              <c:layout>
                <c:manualLayout>
                  <c:xMode val="edge"/>
                  <c:yMode val="edge"/>
                  <c:x val="0"/>
                  <c:y val="0.09"/>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-12</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6"/>
              <c:layout>
                <c:manualLayout>
                  <c:xMode val="edge"/>
                  <c:yMode val="edge"/>
                  <c:x val="0"/>
                  <c:y val="0.09"/>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-4</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dLbl>
            <c:dLbl>
              <c:idx val="7"/>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8"/>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9"/>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4:ln xmlns:ns4="http://schemas.openxmlformats.org/drawingml/2006/main" w="0">
                  <ns4:noFill/>
                </ns4:ln>
              </c:spPr>
            </c:leaderLines>
          </c:dLbls>
          <c:cat>
            <c:strRef>
              <c:f>'Chart Data'!$I$2:$I$12</c:f>
              <c:strCache>
                <c:ptCount val="11"/>
                <c:pt idx="0">
                  <c:v>2.FC</c:v>
                </c:pt>
                <c:pt idx="1">
                  <c:v>Country H</c:v>
                </c:pt>
                <c:pt idx="2">
                  <c:v>Country D</c:v>
                </c:pt>
                <c:pt idx="3">
                  <c:v>Country C</c:v>
                </c:pt>
                <c:pt idx="4">
                  <c:v>Country B</c:v>
                </c:pt>
                <c:pt idx="5">
                  <c:v>Country A</c:v>
                </c:pt>
                <c:pt idx="6">
                  <c:v>Export view</c:v>
                </c:pt>
                <c:pt idx="7">
                  <c:v>Country E</c:v>
                </c:pt>
                <c:pt idx="8">
                  <c:v>Country G</c:v>
                </c:pt>
                <c:pt idx="9">
                  <c:v>Country F</c:v>
                </c:pt>
                <c:pt idx="10">
                  <c:v>ACT</c:v>
                </c:pt>
              </c:strCache>
            </c:strRef>
          </c:cat>
          <c:val>
            <c:numRef>
              <c:f>'Chart Data'!$J$2:$J$12</c:f>
              <c:numCache>
                <c:formatCode>#,##0</c:formatCode>
                <c:ptCount val="11"/>
                <c:pt idx="0">
                  <c:v>0</c:v>
                </c:pt>
                <c:pt idx="1">
                  <c:v>410</c:v>
                </c:pt>
                <c:pt idx="2">
                  <c:v>400</c:v>
                </c:pt>
                <c:pt idx="3">
                  <c:v>300</c:v>
                </c:pt>
                <c:pt idx="4">
                  <c:v>40</c:v>
                </c:pt>
                <c:pt idx="5">
                  <c:v>12</c:v>
                </c:pt>
                <c:pt idx="6">
                  <c:v>4</c:v>
                </c:pt>
                <c:pt idx="7">
                  <c:v>0</c:v>
                </c:pt>
                <c:pt idx="8">
                  <c:v>0</c:v>
                </c:pt>
                <c:pt idx="9">
                  <c:v>0</c:v>
                </c:pt>
                <c:pt idx="10">
                  <c:v>0</c:v>
                </c:pt>
              </c:numCache>
            </c:numRef>
          </c:val>
        </c:ser>
        <c:ser>
          <c:idx val="5"/>
          <c:order val="5"/>
          <c:tx>
            <c:v>lossNeg</c:v>
          </c:tx>
          <c:spPr>
            <a:solidFill xmlns:a="http://schemas.openxmlformats.org/drawingml/2006/main">
              <a:srgbClr val="87978E"/>
            </a:solidFill>
            <a:ln xmlns:a="http://schemas.openxmlformats.org/drawingml/2006/main" w="0">
              <a:noFill/>
            </a:ln>
          </c:spPr>
          <c:dLbls>
            <c:dLbl>
              <c:idx val="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2"/>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3"/>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4"/>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5"/>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6"/>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7"/>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8"/>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9"/>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dLbl>
              <c:idx val="10"/>
              <c:layout>
                <c:manualLayout>
                  <c:xMode val="edge"/>
                  <c:yMode val="edge"/>
                  <c:x val="0"/>
                  <c:y val="-0.1"/>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5:ln xmlns:ns5="http://schemas.openxmlformats.org/drawingml/2006/main" w="0">
                  <ns5:noFill/>
                </ns5:ln>
              </c:spPr>
            </c:leaderLines>
          </c:dLbls>
          <c:cat>
            <c:strRef>
              <c:f>'Chart Data'!$K$2:$K$12</c:f>
              <c:strCache>
                <c:ptCount val="11"/>
                <c:pt idx="0">
                  <c:v>2.FC</c:v>
                </c:pt>
                <c:pt idx="1">
                  <c:v>Country H</c:v>
                </c:pt>
                <c:pt idx="2">
                  <c:v>Country D</c:v>
                </c:pt>
                <c:pt idx="3">
                  <c:v>Country C</c:v>
                </c:pt>
                <c:pt idx="4">
                  <c:v>Country B</c:v>
                </c:pt>
                <c:pt idx="5">
                  <c:v>Country A</c:v>
                </c:pt>
                <c:pt idx="6">
                  <c:v>Export view</c:v>
                </c:pt>
                <c:pt idx="7">
                  <c:v>Country E</c:v>
                </c:pt>
                <c:pt idx="8">
                  <c:v>Country G</c:v>
                </c:pt>
                <c:pt idx="9">
                  <c:v>Country F</c:v>
                </c:pt>
                <c:pt idx="10">
                  <c:v>ACT</c:v>
                </c:pt>
              </c:strCache>
            </c:strRef>
          </c:cat>
          <c:val>
            <c:numRef>
              <c:f>'Chart Data'!$L$2:$L$12</c:f>
              <c:numCache>
                <c:formatCode>#,##0</c:formatCode>
                <c:ptCount val="11"/>
                <c:pt idx="0">
                  <c:v>0</c:v>
                </c:pt>
                <c:pt idx="1">
                  <c:v>0</c:v>
                </c:pt>
                <c:pt idx="2">
                  <c:v>0</c:v>
                </c:pt>
                <c:pt idx="3">
                  <c:v>0</c:v>
                </c:pt>
                <c:pt idx="4">
                  <c:v>0</c:v>
                </c:pt>
                <c:pt idx="5">
                  <c:v>0</c:v>
                </c:pt>
                <c:pt idx="6">
                  <c:v>0</c:v>
                </c:pt>
                <c:pt idx="7">
                  <c:v>0</c:v>
                </c:pt>
                <c:pt idx="8">
                  <c:v>0</c:v>
                </c:pt>
                <c:pt idx="9">
                  <c:v>0</c:v>
                </c:pt>
                <c:pt idx="10">
                  <c:v>0</c:v>
                </c:pt>
              </c:numCache>
            </c:numRef>
          </c:val>
        </c:ser>
        <c:ser>
          <c:idx val="6"/>
          <c:order val="6"/>
          <c:tx>
            <c:v>total</c:v>
          </c:tx>
          <c:spPr>
            <a:solidFill xmlns:a="http://schemas.openxmlformats.org/drawingml/2006/main">
              <a:srgbClr val="17221F"/>
            </a:solidFill>
            <a:ln xmlns:a="http://schemas.openxmlformats.org/drawingml/2006/main" w="0">
              <a:noFill/>
            </a:ln>
          </c:spPr>
          <c:dLbls>
            <c:dLbl>
              <c:idx val="0"/>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92,000</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1"/>
              <c:showCatName val="0"/>
              <c:showSerName val="0"/>
              <c:showPercent val="0"/>
              <c:showBubbleSize val="0"/>
            </c:dLbl>
            <c:dLbl>
              <c:idx val="1"/>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2"/>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3"/>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4"/>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5"/>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6"/>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7"/>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8"/>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9"/>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0"/>
              <c:showCatName val="0"/>
              <c:showSerName val="0"/>
              <c:showPercent val="0"/>
              <c:showBubbleSize val="0"/>
            </c:dLbl>
            <c:dLbl>
              <c:idx val="10"/>
              <c:tx>
                <c:rich>
                  <a:bodyPr xmlns:a="http://schemas.openxmlformats.org/drawingml/2006/main" lIns="76200" rIns="76200" tIns="57150" bIns="57150"/>
                  <a:lstStyle xmlns:a="http://schemas.openxmlformats.org/drawingml/2006/main"/>
                  <a:p xmlns:a="http://schemas.openxmlformats.org/drawingml/2006/main">
                    <a:r>
                      <a:rPr sz="1500" b="1">
                        <a:solidFill>
                          <a:srgbClr val="FFFFFF"/>
                        </a:solidFill>
                        <a:latin typeface="Arial"/>
                        <a:ea typeface="Arial"/>
                        <a:cs typeface="Arial"/>
                      </a:rPr>
                      <a:t>93,500</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500" b="1">
                      <a:solidFill>
                        <a:srgbClr val="FFFFFF"/>
                      </a:solidFill>
                      <a:latin typeface="Arial"/>
                      <a:ea typeface="Arial"/>
                      <a:cs typeface="Arial"/>
                    </a:defRPr>
                  </a:pPr>
                </a:p>
              </c:txPr>
              <c:dLblPos val="inEnd"/>
              <c:showLegendKey val="0"/>
              <c:showVal val="1"/>
              <c:showCatName val="0"/>
              <c:showSerName val="0"/>
              <c:showPercent val="0"/>
              <c:showBubbleSize val="0"/>
            </c:dLbl>
            <c:showLeaderLines val="0"/>
            <c:leaderLines>
              <c:spPr>
                <ns6:ln xmlns:ns6="http://schemas.openxmlformats.org/drawingml/2006/main" w="0">
                  <ns6:noFill/>
                </ns6:ln>
              </c:spPr>
            </c:leaderLines>
          </c:dLbls>
          <c:cat>
            <c:strRef>
              <c:f>'Chart Data'!$M$2:$M$12</c:f>
              <c:strCache>
                <c:ptCount val="11"/>
                <c:pt idx="0">
                  <c:v>2.FC</c:v>
                </c:pt>
                <c:pt idx="1">
                  <c:v>Country H</c:v>
                </c:pt>
                <c:pt idx="2">
                  <c:v>Country D</c:v>
                </c:pt>
                <c:pt idx="3">
                  <c:v>Country C</c:v>
                </c:pt>
                <c:pt idx="4">
                  <c:v>Country B</c:v>
                </c:pt>
                <c:pt idx="5">
                  <c:v>Country A</c:v>
                </c:pt>
                <c:pt idx="6">
                  <c:v>Export view</c:v>
                </c:pt>
                <c:pt idx="7">
                  <c:v>Country E</c:v>
                </c:pt>
                <c:pt idx="8">
                  <c:v>Country G</c:v>
                </c:pt>
                <c:pt idx="9">
                  <c:v>Country F</c:v>
                </c:pt>
                <c:pt idx="10">
                  <c:v>ACT</c:v>
                </c:pt>
              </c:strCache>
            </c:strRef>
          </c:cat>
          <c:val>
            <c:numRef>
              <c:f>'Chart Data'!$N$2:$N$12</c:f>
              <c:numCache>
                <c:formatCode>#,##0</c:formatCode>
                <c:ptCount val="11"/>
                <c:pt idx="0">
                  <c:v>92000</c:v>
                </c:pt>
                <c:pt idx="1">
                  <c:v>0</c:v>
                </c:pt>
                <c:pt idx="2">
                  <c:v>0</c:v>
                </c:pt>
                <c:pt idx="3">
                  <c:v>0</c:v>
                </c:pt>
                <c:pt idx="4">
                  <c:v>0</c:v>
                </c:pt>
                <c:pt idx="5">
                  <c:v>0</c:v>
                </c:pt>
                <c:pt idx="6">
                  <c:v>0</c:v>
                </c:pt>
                <c:pt idx="7">
                  <c:v>0</c:v>
                </c:pt>
                <c:pt idx="8">
                  <c:v>0</c:v>
                </c:pt>
                <c:pt idx="9">
                  <c:v>0</c:v>
                </c:pt>
                <c:pt idx="10">
                  <c:v>93500</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7221F"/>
                  </a:solidFill>
                  <a:latin typeface="Arial"/>
                  <a:ea typeface="Arial"/>
                  <a:cs typeface="Arial"/>
                </a:defRPr>
              </a:pPr>
            </a:p>
          </c:txPr>
          <c:dLblPos val="inEnd"/>
          <c:showLegendKey val="0"/>
          <c:showVal val="1"/>
          <c:showCatName val="0"/>
          <c:showSerName val="0"/>
          <c:showPercent val="0"/>
          <c:showBubbleSize val="0"/>
          <c:showLeaderLines val="0"/>
          <c:leaderLines>
            <c:spPr>
              <ns7:ln xmlns:ns7="http://schemas.openxmlformats.org/drawingml/2006/main" w="0">
                <ns7:noFill/>
              </ns7:ln>
            </c:spPr>
          </c:leaderLines>
        </c:dLbls>
        <c:gapWidth val="50"/>
        <c:overlap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ED9"/>
            </a:solidFill>
          </a:ln>
        </c:spPr>
        <c:txPr>
          <a:bodyPr xmlns:a="http://schemas.openxmlformats.org/drawingml/2006/main" anchorCtr="1"/>
          <a:lstStyle xmlns:a="http://schemas.openxmlformats.org/drawingml/2006/main"/>
          <a:p xmlns:a="http://schemas.openxmlformats.org/drawingml/2006/main">
            <a:pPr>
              <a:defRPr sz="1350">
                <a:solidFill>
                  <a:srgbClr val="54625D"/>
                </a:solidFill>
                <a:latin typeface="Arial"/>
                <a:ea typeface="Arial"/>
                <a:cs typeface="Arial"/>
              </a:defRPr>
            </a:pPr>
          </a:p>
        </c:txPr>
        <c:crossAx val="48672768"/>
      </c:catAx>
      <c:valAx>
        <c:axId val="48672768"/>
        <c:scaling>
          <c:orientation val="minMax"/>
          <c:max val="94200"/>
          <c:min val="90000"/>
        </c:scaling>
        <c:delete val="0"/>
        <c:axPos val="l"/>
        <c:numFmt formatCode="#,##0"/>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4625D"/>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Δ CM1</c:v>
          </c:tx>
          <c:spPr>
            <a:solidFill xmlns:a="http://schemas.openxmlformats.org/drawingml/2006/main">
              <a:srgbClr val="087F72"/>
            </a:solidFill>
          </c:spPr>
          <c:invertIfNegative val="0"/>
          <c:dPt>
            <c:idx val="0"/>
            <c:invertIfNegative val="0"/>
            <c:spPr>
              <a:solidFill xmlns:a="http://schemas.openxmlformats.org/drawingml/2006/main">
                <a:srgbClr val="087F72"/>
              </a:solidFill>
            </c:spPr>
          </c:dPt>
          <c:dPt>
            <c:idx val="1"/>
            <c:invertIfNegative val="0"/>
            <c:spPr>
              <a:solidFill xmlns:a="http://schemas.openxmlformats.org/drawingml/2006/main">
                <a:srgbClr val="87978E"/>
              </a:solidFill>
            </c:spPr>
          </c:dPt>
          <c:dPt>
            <c:idx val="2"/>
            <c:invertIfNegative val="0"/>
            <c:spPr>
              <a:solidFill xmlns:a="http://schemas.openxmlformats.org/drawingml/2006/main">
                <a:srgbClr val="087F72"/>
              </a:solidFill>
            </c:spPr>
          </c:dPt>
          <c:dPt>
            <c:idx val="3"/>
            <c:invertIfNegative val="0"/>
            <c:spPr>
              <a:solidFill xmlns:a="http://schemas.openxmlformats.org/drawingml/2006/main">
                <a:srgbClr val="87978E"/>
              </a:solidFill>
            </c:spPr>
          </c:dPt>
          <c:dPt>
            <c:idx val="4"/>
            <c:invertIfNegative val="0"/>
            <c:spPr>
              <a:solidFill xmlns:a="http://schemas.openxmlformats.org/drawingml/2006/main">
                <a:srgbClr val="087F72"/>
              </a:solidFill>
            </c:spPr>
          </c:dPt>
          <c:dPt>
            <c:idx val="5"/>
            <c:invertIfNegative val="0"/>
            <c:spPr>
              <a:solidFill xmlns:a="http://schemas.openxmlformats.org/drawingml/2006/main">
                <a:srgbClr val="87978E"/>
              </a:solidFill>
            </c:spPr>
          </c:dPt>
          <c:dPt>
            <c:idx val="6"/>
            <c:invertIfNegative val="0"/>
            <c:spPr>
              <a:solidFill xmlns:a="http://schemas.openxmlformats.org/drawingml/2006/main">
                <a:srgbClr val="87978E"/>
              </a:solidFill>
            </c:spPr>
          </c:dPt>
          <c:dPt>
            <c:idx val="7"/>
            <c:invertIfNegative val="0"/>
            <c:spPr>
              <a:solidFill xmlns:a="http://schemas.openxmlformats.org/drawingml/2006/main">
                <a:srgbClr val="087F72"/>
              </a:solidFill>
            </c:spPr>
          </c:dPt>
          <c:dLbls>
            <c:dLbl>
              <c:idx val="0"/>
              <c:layout>
                <c:manualLayout>
                  <c:xMode val="edge"/>
                  <c:yMode val="edge"/>
                  <c:x val="0.024"/>
                  <c:y val="0"/>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+3</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outEnd"/>
              <c:showLegendKey val="0"/>
              <c:showVal val="1"/>
              <c:showCatName val="0"/>
              <c:showSerName val="0"/>
              <c:showPercent val="0"/>
              <c:showBubbleSize val="0"/>
            </c:dLbl>
            <c:dLbl>
              <c:idx val="1"/>
              <c:layout>
                <c:manualLayout>
                  <c:xMode val="edge"/>
                  <c:yMode val="edge"/>
                  <c:x val="-0.024"/>
                  <c:y val="0"/>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-12</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outEnd"/>
              <c:showLegendKey val="0"/>
              <c:showVal val="1"/>
              <c:showCatName val="0"/>
              <c:showSerName val="0"/>
              <c:showPercent val="0"/>
              <c:showBubbleSize val="0"/>
            </c:dLbl>
            <c:dLbl>
              <c:idx val="2"/>
              <c:layout>
                <c:manualLayout>
                  <c:xMode val="edge"/>
                  <c:yMode val="edge"/>
                  <c:x val="0.024"/>
                  <c:y val="0"/>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+13</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outEnd"/>
              <c:showLegendKey val="0"/>
              <c:showVal val="1"/>
              <c:showCatName val="0"/>
              <c:showSerName val="0"/>
              <c:showPercent val="0"/>
              <c:showBubbleSize val="0"/>
            </c:dLbl>
            <c:dLbl>
              <c:idx val="3"/>
              <c:layout>
                <c:manualLayout>
                  <c:xMode val="edge"/>
                  <c:yMode val="edge"/>
                  <c:x val="-0.024"/>
                  <c:y val="0"/>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-32</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outEnd"/>
              <c:showLegendKey val="0"/>
              <c:showVal val="1"/>
              <c:showCatName val="0"/>
              <c:showSerName val="0"/>
              <c:showPercent val="0"/>
              <c:showBubbleSize val="0"/>
            </c:dLbl>
            <c:dLbl>
              <c:idx val="4"/>
              <c:layout>
                <c:manualLayout>
                  <c:xMode val="edge"/>
                  <c:yMode val="edge"/>
                  <c:x val="0.024"/>
                  <c:y val="0"/>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+34</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outEnd"/>
              <c:showLegendKey val="0"/>
              <c:showVal val="1"/>
              <c:showCatName val="0"/>
              <c:showSerName val="0"/>
              <c:showPercent val="0"/>
              <c:showBubbleSize val="0"/>
            </c:dLbl>
            <c:dLbl>
              <c:idx val="5"/>
              <c:layout>
                <c:manualLayout>
                  <c:xMode val="edge"/>
                  <c:yMode val="edge"/>
                  <c:x val="-0.024"/>
                  <c:y val="0"/>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-38</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outEnd"/>
              <c:showLegendKey val="0"/>
              <c:showVal val="1"/>
              <c:showCatName val="0"/>
              <c:showSerName val="0"/>
              <c:showPercent val="0"/>
              <c:showBubbleSize val="0"/>
            </c:dLbl>
            <c:dLbl>
              <c:idx val="6"/>
              <c:layout>
                <c:manualLayout>
                  <c:xMode val="edge"/>
                  <c:yMode val="edge"/>
                  <c:x val="-0.024"/>
                  <c:y val="0"/>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-70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outEnd"/>
              <c:showLegendKey val="0"/>
              <c:showVal val="1"/>
              <c:showCatName val="0"/>
              <c:showSerName val="0"/>
              <c:showPercent val="0"/>
              <c:showBubbleSize val="0"/>
            </c:dLbl>
            <c:dLbl>
              <c:idx val="7"/>
              <c:layout>
                <c:manualLayout>
                  <c:xMode val="edge"/>
                  <c:yMode val="edge"/>
                  <c:x val="0.024"/>
                  <c:y val="0"/>
                </c:manualLayout>
              </c:layout>
              <c:tx>
                <c:rich>
                  <a:bodyPr xmlns:a="http://schemas.openxmlformats.org/drawingml/2006/main" lIns="76200" rIns="76200" tIns="66675" bIns="66675"/>
                  <a:lstStyle xmlns:a="http://schemas.openxmlformats.org/drawingml/2006/main"/>
                  <a:p xmlns:a="http://schemas.openxmlformats.org/drawingml/2006/main">
                    <a:r>
                      <a:rPr sz="1500" b="1">
                        <a:solidFill>
                          <a:srgbClr val="17221F"/>
                        </a:solidFill>
                        <a:latin typeface="Arial"/>
                        <a:ea typeface="Arial"/>
                        <a:cs typeface="Arial"/>
                      </a:rPr>
                      <a:t>+90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500" b="1">
                      <a:solidFill>
                        <a:srgbClr val="17221F"/>
                      </a:solidFill>
                      <a:latin typeface="Arial"/>
                      <a:ea typeface="Arial"/>
                      <a:cs typeface="Arial"/>
                    </a:defRPr>
                  </a:pPr>
                </a:p>
              </c:txPr>
              <c:dLblPos val="outEnd"/>
              <c:showLegendKey val="0"/>
              <c:showVal val="1"/>
              <c:showCatName val="0"/>
              <c:showSerName val="0"/>
              <c:showPercent val="0"/>
              <c:showBubbleSize val="0"/>
            </c:dLbl>
            <c:showLeaderLines val="0"/>
            <c:leaderLines>
              <c:spPr>
                <ns0:ln xmlns:ns0="http://schemas.openxmlformats.org/drawingml/2006/main" w="0">
                  <ns0:noFill/>
                </ns0:ln>
              </c:spPr>
            </c:leaderLines>
          </c:dLbls>
          <c:cat>
            <c:strRef>
              <c:f>'Chart Data'!$A$2:$A$9</c:f>
              <c:strCache>
                <c:ptCount val="8"/>
                <c:pt idx="0">
                  <c:v>Segment F</c:v>
                </c:pt>
                <c:pt idx="1">
                  <c:v>Segment D</c:v>
                </c:pt>
                <c:pt idx="2">
                  <c:v>Segment B</c:v>
                </c:pt>
                <c:pt idx="3">
                  <c:v>Segment E</c:v>
                </c:pt>
                <c:pt idx="4">
                  <c:v>Segment C</c:v>
                </c:pt>
                <c:pt idx="5">
                  <c:v>Segment H</c:v>
                </c:pt>
                <c:pt idx="6">
                  <c:v>Segment G</c:v>
                </c:pt>
                <c:pt idx="7">
                  <c:v>Segment A</c:v>
                </c:pt>
              </c:strCache>
            </c:strRef>
          </c:cat>
          <c:val>
            <c:numRef>
              <c:f>'Chart Data'!$B$2:$B$9</c:f>
              <c:numCache>
                <c:formatCode>General</c:formatCode>
                <c:ptCount val="8"/>
                <c:pt idx="0">
                  <c:v>3</c:v>
                </c:pt>
                <c:pt idx="1">
                  <c:v>-12</c:v>
                </c:pt>
                <c:pt idx="2">
                  <c:v>13</c:v>
                </c:pt>
                <c:pt idx="3">
                  <c:v>-32</c:v>
                </c:pt>
                <c:pt idx="4">
                  <c:v>34</c:v>
                </c:pt>
                <c:pt idx="5">
                  <c:v>-38</c:v>
                </c:pt>
                <c:pt idx="6">
                  <c:v>-70</c:v>
                </c:pt>
                <c:pt idx="7">
                  <c:v>90</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7221F"/>
                  </a:solidFill>
                  <a:latin typeface="Arial"/>
                  <a:ea typeface="Arial"/>
                  <a:cs typeface="Arial"/>
                </a:defRPr>
              </a:pPr>
            </a:p>
          </c:txPr>
          <c:dLblPos val="outEnd"/>
          <c:showLegendKey val="0"/>
          <c:showVal val="1"/>
          <c:showCatName val="0"/>
          <c:showSerName val="0"/>
          <c:showPercent val="0"/>
          <c:showBubbleSize val="0"/>
          <c:showLeaderLines val="0"/>
          <c:leaderLines>
            <c:spPr>
              <ns1:ln xmlns:ns1="http://schemas.openxmlformats.org/drawingml/2006/main" w="0">
                <ns1:noFill/>
              </ns1:ln>
            </c:spPr>
          </c:leaderLines>
        </c:dLbls>
        <c:gapWidth val="65"/>
        <c:axId val="48650112"/>
        <c:axId val="48672768"/>
      </c:barChart>
      <c:catAx>
        <c:axId val="48650112"/>
        <c:scaling>
          <c:orientation val="minMax"/>
        </c:scaling>
        <c:delete val="0"/>
        <c:axPos val="l"/>
        <c:numFmt formatCode="0"/>
        <c:majorTickMark val="none"/>
        <c:minorTickMark val="none"/>
        <c:tickLblPos val="low"/>
        <c:spPr>
          <a:ln xmlns:a="http://schemas.openxmlformats.org/drawingml/2006/main" w="9525">
            <a:solidFill>
              <a:srgbClr val="D5DED9"/>
            </a:solidFill>
          </a:ln>
        </c:spPr>
        <c:txPr>
          <a:bodyPr xmlns:a="http://schemas.openxmlformats.org/drawingml/2006/main" anchorCtr="1"/>
          <a:lstStyle xmlns:a="http://schemas.openxmlformats.org/drawingml/2006/main"/>
          <a:p xmlns:a="http://schemas.openxmlformats.org/drawingml/2006/main">
            <a:pPr>
              <a:defRPr sz="1275">
                <a:solidFill>
                  <a:srgbClr val="54625D"/>
                </a:solidFill>
                <a:latin typeface="Arial"/>
                <a:ea typeface="Arial"/>
                <a:cs typeface="Arial"/>
              </a:defRPr>
            </a:pPr>
          </a:p>
        </c:txPr>
        <c:crossAx val="48672768"/>
      </c:catAx>
      <c:valAx>
        <c:axId val="48672768"/>
        <c:scaling>
          <c:orientation val="minMax"/>
          <c:min val="-100"/>
          <c:max val="125"/>
        </c:scaling>
        <c:delete val="0"/>
        <c:axPos val="b"/>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17221F"/>
                </a:solidFill>
                <a:latin typeface="Arial"/>
                <a:ea typeface="Arial"/>
                <a:cs typeface="Arial"/>
              </a:defRPr>
            </a:pPr>
          </a:p>
        </c:txPr>
        <c:crossAx val="48650112"/>
        <c:crossBetween val="between"/>
        <c:crossesAt val="-1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basePos</c:v>
          </c:tx>
          <c:spPr>
            <a:noFill xmlns:a="http://schemas.openxmlformats.org/drawingml/2006/main"/>
            <a:ln xmlns:a="http://schemas.openxmlformats.org/drawingml/2006/main" w="0">
              <a:noFill/>
            </a:ln>
          </c:spPr>
          <c:cat>
            <c:strRef>
              <c:f>'Chart Data'!$A$2:$A$5</c:f>
              <c:strCache>
                <c:ptCount val="4"/>
                <c:pt idx="0">
                  <c:v>Price</c:v>
                </c:pt>
                <c:pt idx="1">
                  <c:v>Volume</c:v>
                </c:pt>
                <c:pt idx="2">
                  <c:v>Mix</c:v>
                </c:pt>
                <c:pt idx="3">
                  <c:v>Total</c:v>
                </c:pt>
              </c:strCache>
            </c:strRef>
          </c:cat>
          <c:val>
            <c:numRef>
              <c:f>'Chart Data'!$B$2:$B$5</c:f>
              <c:numCache>
                <c:formatCode>#,##0</c:formatCode>
                <c:ptCount val="4"/>
                <c:pt idx="0">
                  <c:v>0</c:v>
                </c:pt>
                <c:pt idx="1">
                  <c:v>0</c:v>
                </c:pt>
                <c:pt idx="2">
                  <c:v>90</c:v>
                </c:pt>
                <c:pt idx="3">
                  <c:v>0</c:v>
                </c:pt>
              </c:numCache>
            </c:numRef>
          </c:val>
          <c:dLbls>
            <c:showLegendKey val="0"/>
            <c:showVal val="0"/>
            <c:showCatName val="0"/>
            <c:showSerName val="0"/>
            <c:showPercent val="0"/>
            <c:showBubbleSize val="0"/>
            <c:showLeaderLines val="0"/>
            <c:leaderLines>
              <c:spPr>
                <ns0:ln xmlns:ns0="http://schemas.openxmlformats.org/drawingml/2006/main" w="0">
                  <ns0:noFill/>
                </ns0:ln>
              </c:spPr>
            </c:leaderLines>
          </c:dLbls>
        </c:ser>
        <c:ser>
          <c:idx val="1"/>
          <c:order val="1"/>
          <c:tx>
            <c:v>baseNeg</c:v>
          </c:tx>
          <c:spPr>
            <a:noFill xmlns:a="http://schemas.openxmlformats.org/drawingml/2006/main"/>
            <a:ln xmlns:a="http://schemas.openxmlformats.org/drawingml/2006/main" w="0">
              <a:noFill/>
            </a:ln>
          </c:spPr>
          <c:cat>
            <c:strRef>
              <c:f>'Chart Data'!$C$2:$C$5</c:f>
              <c:strCache>
                <c:ptCount val="4"/>
                <c:pt idx="0">
                  <c:v>Price</c:v>
                </c:pt>
                <c:pt idx="1">
                  <c:v>Volume</c:v>
                </c:pt>
                <c:pt idx="2">
                  <c:v>Mix</c:v>
                </c:pt>
                <c:pt idx="3">
                  <c:v>Total</c:v>
                </c:pt>
              </c:strCache>
            </c:strRef>
          </c:cat>
          <c:val>
            <c:numRef>
              <c:f>'Chart Data'!$D$2:$D$5</c:f>
              <c:numCache>
                <c:formatCode>#,##0</c:formatCode>
                <c:ptCount val="4"/>
                <c:pt idx="0">
                  <c:v>0</c:v>
                </c:pt>
                <c:pt idx="1">
                  <c:v>0</c:v>
                </c:pt>
                <c:pt idx="2">
                  <c:v>0</c:v>
                </c:pt>
                <c:pt idx="3">
                  <c:v>0</c:v>
                </c:pt>
              </c:numCache>
            </c:numRef>
          </c:val>
          <c:dLbls>
            <c:showLegendKey val="0"/>
            <c:showVal val="0"/>
            <c:showCatName val="0"/>
            <c:showSerName val="0"/>
            <c:showPercent val="0"/>
            <c:showBubbleSize val="0"/>
            <c:showLeaderLines val="0"/>
            <c:leaderLines>
              <c:spPr>
                <ns1:ln xmlns:ns1="http://schemas.openxmlformats.org/drawingml/2006/main" w="0">
                  <ns1:noFill/>
                </ns1:ln>
              </c:spPr>
            </c:leaderLines>
          </c:dLbls>
        </c:ser>
        <c:ser>
          <c:idx val="2"/>
          <c:order val="2"/>
          <c:tx>
            <c:v>gainPos</c:v>
          </c:tx>
          <c:spPr>
            <a:solidFill xmlns:a="http://schemas.openxmlformats.org/drawingml/2006/main">
              <a:srgbClr val="087F72"/>
            </a:solidFill>
            <a:ln xmlns:a="http://schemas.openxmlformats.org/drawingml/2006/main" w="0">
              <a:noFill/>
            </a:ln>
          </c:spPr>
          <c:dLbls>
            <c:dLbl>
              <c:idx val="0"/>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1"/>
              <c:tx>
                <c:rich>
                  <a:bodyPr xmlns:a="http://schemas.openxmlformats.org/drawingml/2006/main" lIns="76200" rIns="76200" tIns="57150" bIns="57150"/>
                  <a:lstStyle xmlns:a="http://schemas.openxmlformats.org/drawingml/2006/main"/>
                  <a:p xmlns:a="http://schemas.openxmlformats.org/drawingml/2006/main">
                    <a:r>
                      <a:rPr sz="1350" b="1">
                        <a:solidFill>
                          <a:srgbClr val="FFFFFF"/>
                        </a:solidFill>
                        <a:latin typeface="Arial"/>
                        <a:ea typeface="Arial"/>
                        <a:cs typeface="Arial"/>
                      </a:rPr>
                      <a:t>+172</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350" b="1">
                      <a:solidFill>
                        <a:srgbClr val="FFFFFF"/>
                      </a:solidFill>
                      <a:latin typeface="Arial"/>
                      <a:ea typeface="Arial"/>
                      <a:cs typeface="Arial"/>
                    </a:defRPr>
                  </a:pPr>
                </a:p>
              </c:txPr>
              <c:dLblPos val="ctr"/>
              <c:showLegendKey val="0"/>
              <c:showVal val="1"/>
              <c:showCatName val="0"/>
              <c:showSerName val="0"/>
              <c:showPercent val="0"/>
              <c:showBubbleSize val="0"/>
            </c:dLbl>
            <c:dLbl>
              <c:idx val="2"/>
              <c:layout>
                <c:manualLayout>
                  <c:xMode val="edge"/>
                  <c:yMode val="edge"/>
                  <c:x val="0"/>
                  <c:y val="-0.09"/>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0</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1"/>
              <c:showCatName val="0"/>
              <c:showSerName val="0"/>
              <c:showPercent val="0"/>
              <c:showBubbleSize val="0"/>
            </c:dLbl>
            <c:dLbl>
              <c:idx val="3"/>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2:ln xmlns:ns2="http://schemas.openxmlformats.org/drawingml/2006/main" w="0">
                  <ns2:noFill/>
                </ns2:ln>
              </c:spPr>
            </c:leaderLines>
          </c:dLbls>
          <c:cat>
            <c:strRef>
              <c:f>'Chart Data'!$E$2:$E$5</c:f>
              <c:strCache>
                <c:ptCount val="4"/>
                <c:pt idx="0">
                  <c:v>Price</c:v>
                </c:pt>
                <c:pt idx="1">
                  <c:v>Volume</c:v>
                </c:pt>
                <c:pt idx="2">
                  <c:v>Mix</c:v>
                </c:pt>
                <c:pt idx="3">
                  <c:v>Total</c:v>
                </c:pt>
              </c:strCache>
            </c:strRef>
          </c:cat>
          <c:val>
            <c:numRef>
              <c:f>'Chart Data'!$F$2:$F$5</c:f>
              <c:numCache>
                <c:formatCode>#,##0</c:formatCode>
                <c:ptCount val="4"/>
                <c:pt idx="0">
                  <c:v>0</c:v>
                </c:pt>
                <c:pt idx="1">
                  <c:v>90</c:v>
                </c:pt>
                <c:pt idx="2">
                  <c:v>0</c:v>
                </c:pt>
                <c:pt idx="3">
                  <c:v>0</c:v>
                </c:pt>
              </c:numCache>
            </c:numRef>
          </c:val>
        </c:ser>
        <c:ser>
          <c:idx val="3"/>
          <c:order val="3"/>
          <c:tx>
            <c:v>gainNeg</c:v>
          </c:tx>
          <c:spPr>
            <a:solidFill xmlns:a="http://schemas.openxmlformats.org/drawingml/2006/main">
              <a:srgbClr val="087F72"/>
            </a:solidFill>
            <a:ln xmlns:a="http://schemas.openxmlformats.org/drawingml/2006/main" w="0">
              <a:noFill/>
            </a:ln>
          </c:spPr>
          <c:invertIfNegative val="0"/>
          <c:dLbls>
            <c:dLbl>
              <c:idx val="0"/>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1"/>
              <c:tx>
                <c:rich>
                  <a:bodyPr xmlns:a="http://schemas.openxmlformats.org/drawingml/2006/main" lIns="76200" rIns="76200" tIns="57150" bIns="57150"/>
                  <a:lstStyle xmlns:a="http://schemas.openxmlformats.org/drawingml/2006/main"/>
                  <a:p xmlns:a="http://schemas.openxmlformats.org/drawingml/2006/main">
                    <a:r>
                      <a:rPr sz="135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350" b="1">
                      <a:solidFill>
                        <a:srgbClr val="FFFFFF"/>
                      </a:solidFill>
                      <a:latin typeface="Arial"/>
                      <a:ea typeface="Arial"/>
                      <a:cs typeface="Arial"/>
                    </a:defRPr>
                  </a:pPr>
                </a:p>
              </c:txPr>
              <c:dLblPos val="ctr"/>
              <c:showLegendKey val="0"/>
              <c:showVal val="0"/>
              <c:showCatName val="0"/>
              <c:showSerName val="0"/>
              <c:showPercent val="0"/>
              <c:showBubbleSize val="0"/>
            </c:dLbl>
            <c:dLbl>
              <c:idx val="2"/>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3"/>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3:ln xmlns:ns3="http://schemas.openxmlformats.org/drawingml/2006/main" w="0">
                  <ns3:noFill/>
                </ns3:ln>
              </c:spPr>
            </c:leaderLines>
          </c:dLbls>
          <c:cat>
            <c:strRef>
              <c:f>'Chart Data'!$G$2:$G$5</c:f>
              <c:strCache>
                <c:ptCount val="4"/>
                <c:pt idx="0">
                  <c:v>Price</c:v>
                </c:pt>
                <c:pt idx="1">
                  <c:v>Volume</c:v>
                </c:pt>
                <c:pt idx="2">
                  <c:v>Mix</c:v>
                </c:pt>
                <c:pt idx="3">
                  <c:v>Total</c:v>
                </c:pt>
              </c:strCache>
            </c:strRef>
          </c:cat>
          <c:val>
            <c:numRef>
              <c:f>'Chart Data'!$H$2:$H$5</c:f>
              <c:numCache>
                <c:formatCode>#,##0</c:formatCode>
                <c:ptCount val="4"/>
                <c:pt idx="0">
                  <c:v>0</c:v>
                </c:pt>
                <c:pt idx="1">
                  <c:v>-82</c:v>
                </c:pt>
                <c:pt idx="2">
                  <c:v>0</c:v>
                </c:pt>
                <c:pt idx="3">
                  <c:v>0</c:v>
                </c:pt>
              </c:numCache>
            </c:numRef>
          </c:val>
        </c:ser>
        <c:ser>
          <c:idx val="4"/>
          <c:order val="4"/>
          <c:tx>
            <c:v>lossPos</c:v>
          </c:tx>
          <c:spPr>
            <a:solidFill xmlns:a="http://schemas.openxmlformats.org/drawingml/2006/main">
              <a:srgbClr val="87978E"/>
            </a:solidFill>
            <a:ln xmlns:a="http://schemas.openxmlformats.org/drawingml/2006/main" w="0">
              <a:noFill/>
            </a:ln>
          </c:spPr>
          <c:dLbls>
            <c:dLbl>
              <c:idx val="0"/>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1"/>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2"/>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3"/>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4:ln xmlns:ns4="http://schemas.openxmlformats.org/drawingml/2006/main" w="0">
                  <ns4:noFill/>
                </ns4:ln>
              </c:spPr>
            </c:leaderLines>
          </c:dLbls>
          <c:cat>
            <c:strRef>
              <c:f>'Chart Data'!$I$2:$I$5</c:f>
              <c:strCache>
                <c:ptCount val="4"/>
                <c:pt idx="0">
                  <c:v>Price</c:v>
                </c:pt>
                <c:pt idx="1">
                  <c:v>Volume</c:v>
                </c:pt>
                <c:pt idx="2">
                  <c:v>Mix</c:v>
                </c:pt>
                <c:pt idx="3">
                  <c:v>Total</c:v>
                </c:pt>
              </c:strCache>
            </c:strRef>
          </c:cat>
          <c:val>
            <c:numRef>
              <c:f>'Chart Data'!$J$2:$J$5</c:f>
              <c:numCache>
                <c:formatCode>#,##0</c:formatCode>
                <c:ptCount val="4"/>
                <c:pt idx="0">
                  <c:v>0</c:v>
                </c:pt>
                <c:pt idx="1">
                  <c:v>0</c:v>
                </c:pt>
                <c:pt idx="2">
                  <c:v>0</c:v>
                </c:pt>
                <c:pt idx="3">
                  <c:v>0</c:v>
                </c:pt>
              </c:numCache>
            </c:numRef>
          </c:val>
        </c:ser>
        <c:ser>
          <c:idx val="5"/>
          <c:order val="5"/>
          <c:tx>
            <c:v>lossNeg</c:v>
          </c:tx>
          <c:spPr>
            <a:solidFill xmlns:a="http://schemas.openxmlformats.org/drawingml/2006/main">
              <a:srgbClr val="87978E"/>
            </a:solidFill>
            <a:ln xmlns:a="http://schemas.openxmlformats.org/drawingml/2006/main" w="0">
              <a:noFill/>
            </a:ln>
          </c:spPr>
          <c:invertIfNegative val="0"/>
          <c:dLbls>
            <c:dLbl>
              <c:idx val="0"/>
              <c:tx>
                <c:rich>
                  <a:bodyPr xmlns:a="http://schemas.openxmlformats.org/drawingml/2006/main" lIns="76200" rIns="76200" tIns="57150" bIns="57150"/>
                  <a:lstStyle xmlns:a="http://schemas.openxmlformats.org/drawingml/2006/main"/>
                  <a:p xmlns:a="http://schemas.openxmlformats.org/drawingml/2006/main">
                    <a:r>
                      <a:rPr sz="1350" b="1">
                        <a:solidFill>
                          <a:srgbClr val="17221F"/>
                        </a:solidFill>
                        <a:latin typeface="Arial"/>
                        <a:ea typeface="Arial"/>
                        <a:cs typeface="Arial"/>
                      </a:rPr>
                      <a:t>-82</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350" b="1">
                      <a:solidFill>
                        <a:srgbClr val="17221F"/>
                      </a:solidFill>
                      <a:latin typeface="Arial"/>
                      <a:ea typeface="Arial"/>
                      <a:cs typeface="Arial"/>
                    </a:defRPr>
                  </a:pPr>
                </a:p>
              </c:txPr>
              <c:dLblPos val="ctr"/>
              <c:showLegendKey val="0"/>
              <c:showVal val="1"/>
              <c:showCatName val="0"/>
              <c:showSerName val="0"/>
              <c:showPercent val="0"/>
              <c:showBubbleSize val="0"/>
            </c:dLbl>
            <c:dLbl>
              <c:idx val="1"/>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2"/>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3"/>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5:ln xmlns:ns5="http://schemas.openxmlformats.org/drawingml/2006/main" w="0">
                  <ns5:noFill/>
                </ns5:ln>
              </c:spPr>
            </c:leaderLines>
          </c:dLbls>
          <c:cat>
            <c:strRef>
              <c:f>'Chart Data'!$K$2:$K$5</c:f>
              <c:strCache>
                <c:ptCount val="4"/>
                <c:pt idx="0">
                  <c:v>Price</c:v>
                </c:pt>
                <c:pt idx="1">
                  <c:v>Volume</c:v>
                </c:pt>
                <c:pt idx="2">
                  <c:v>Mix</c:v>
                </c:pt>
                <c:pt idx="3">
                  <c:v>Total</c:v>
                </c:pt>
              </c:strCache>
            </c:strRef>
          </c:cat>
          <c:val>
            <c:numRef>
              <c:f>'Chart Data'!$L$2:$L$5</c:f>
              <c:numCache>
                <c:formatCode>#,##0</c:formatCode>
                <c:ptCount val="4"/>
                <c:pt idx="0">
                  <c:v>-82</c:v>
                </c:pt>
                <c:pt idx="1">
                  <c:v>0</c:v>
                </c:pt>
                <c:pt idx="2">
                  <c:v>0</c:v>
                </c:pt>
                <c:pt idx="3">
                  <c:v>0</c:v>
                </c:pt>
              </c:numCache>
            </c:numRef>
          </c:val>
        </c:ser>
        <c:ser>
          <c:idx val="6"/>
          <c:order val="6"/>
          <c:tx>
            <c:v>total</c:v>
          </c:tx>
          <c:spPr>
            <a:solidFill xmlns:a="http://schemas.openxmlformats.org/drawingml/2006/main">
              <a:srgbClr val="17221F"/>
            </a:solidFill>
            <a:ln xmlns:a="http://schemas.openxmlformats.org/drawingml/2006/main" w="0">
              <a:noFill/>
            </a:ln>
          </c:spPr>
          <c:dLbls>
            <c:dLbl>
              <c:idx val="0"/>
              <c:tx>
                <c:rich>
                  <a:bodyPr xmlns:a="http://schemas.openxmlformats.org/drawingml/2006/main" lIns="76200" rIns="76200" tIns="57150" bIns="57150"/>
                  <a:lstStyle xmlns:a="http://schemas.openxmlformats.org/drawingml/2006/main"/>
                  <a:p xmlns:a="http://schemas.openxmlformats.org/drawingml/2006/main">
                    <a:r>
                      <a:rPr sz="135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350" b="1">
                      <a:solidFill>
                        <a:srgbClr val="FFFFFF"/>
                      </a:solidFill>
                      <a:latin typeface="Arial"/>
                      <a:ea typeface="Arial"/>
                      <a:cs typeface="Arial"/>
                    </a:defRPr>
                  </a:pPr>
                </a:p>
              </c:txPr>
              <c:dLblPos val="inEnd"/>
              <c:showLegendKey val="0"/>
              <c:showVal val="0"/>
              <c:showCatName val="0"/>
              <c:showSerName val="0"/>
              <c:showPercent val="0"/>
              <c:showBubbleSize val="0"/>
            </c:dLbl>
            <c:dLbl>
              <c:idx val="1"/>
              <c:tx>
                <c:rich>
                  <a:bodyPr xmlns:a="http://schemas.openxmlformats.org/drawingml/2006/main" lIns="76200" rIns="76200" tIns="57150" bIns="57150"/>
                  <a:lstStyle xmlns:a="http://schemas.openxmlformats.org/drawingml/2006/main"/>
                  <a:p xmlns:a="http://schemas.openxmlformats.org/drawingml/2006/main">
                    <a:r>
                      <a:rPr sz="135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350" b="1">
                      <a:solidFill>
                        <a:srgbClr val="FFFFFF"/>
                      </a:solidFill>
                      <a:latin typeface="Arial"/>
                      <a:ea typeface="Arial"/>
                      <a:cs typeface="Arial"/>
                    </a:defRPr>
                  </a:pPr>
                </a:p>
              </c:txPr>
              <c:dLblPos val="inEnd"/>
              <c:showLegendKey val="0"/>
              <c:showVal val="0"/>
              <c:showCatName val="0"/>
              <c:showSerName val="0"/>
              <c:showPercent val="0"/>
              <c:showBubbleSize val="0"/>
            </c:dLbl>
            <c:dLbl>
              <c:idx val="2"/>
              <c:tx>
                <c:rich>
                  <a:bodyPr xmlns:a="http://schemas.openxmlformats.org/drawingml/2006/main" lIns="76200" rIns="76200" tIns="57150" bIns="57150"/>
                  <a:lstStyle xmlns:a="http://schemas.openxmlformats.org/drawingml/2006/main"/>
                  <a:p xmlns:a="http://schemas.openxmlformats.org/drawingml/2006/main">
                    <a:r>
                      <a:rPr sz="135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350" b="1">
                      <a:solidFill>
                        <a:srgbClr val="FFFFFF"/>
                      </a:solidFill>
                      <a:latin typeface="Arial"/>
                      <a:ea typeface="Arial"/>
                      <a:cs typeface="Arial"/>
                    </a:defRPr>
                  </a:pPr>
                </a:p>
              </c:txPr>
              <c:dLblPos val="inEnd"/>
              <c:showLegendKey val="0"/>
              <c:showVal val="0"/>
              <c:showCatName val="0"/>
              <c:showSerName val="0"/>
              <c:showPercent val="0"/>
              <c:showBubbleSize val="0"/>
            </c:dLbl>
            <c:dLbl>
              <c:idx val="3"/>
              <c:tx>
                <c:rich>
                  <a:bodyPr xmlns:a="http://schemas.openxmlformats.org/drawingml/2006/main" lIns="76200" rIns="76200" tIns="57150" bIns="57150"/>
                  <a:lstStyle xmlns:a="http://schemas.openxmlformats.org/drawingml/2006/main"/>
                  <a:p xmlns:a="http://schemas.openxmlformats.org/drawingml/2006/main">
                    <a:r>
                      <a:rPr sz="1350" b="1">
                        <a:solidFill>
                          <a:srgbClr val="FFFFFF"/>
                        </a:solidFill>
                        <a:latin typeface="Arial"/>
                        <a:ea typeface="Arial"/>
                        <a:cs typeface="Arial"/>
                      </a:rPr>
                      <a:t>90</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350" b="1">
                      <a:solidFill>
                        <a:srgbClr val="FFFFFF"/>
                      </a:solidFill>
                      <a:latin typeface="Arial"/>
                      <a:ea typeface="Arial"/>
                      <a:cs typeface="Arial"/>
                    </a:defRPr>
                  </a:pPr>
                </a:p>
              </c:txPr>
              <c:dLblPos val="inEnd"/>
              <c:showLegendKey val="0"/>
              <c:showVal val="1"/>
              <c:showCatName val="0"/>
              <c:showSerName val="0"/>
              <c:showPercent val="0"/>
              <c:showBubbleSize val="0"/>
            </c:dLbl>
            <c:showLeaderLines val="0"/>
            <c:leaderLines>
              <c:spPr>
                <ns6:ln xmlns:ns6="http://schemas.openxmlformats.org/drawingml/2006/main" w="0">
                  <ns6:noFill/>
                </ns6:ln>
              </c:spPr>
            </c:leaderLines>
          </c:dLbls>
          <c:cat>
            <c:strRef>
              <c:f>'Chart Data'!$M$2:$M$5</c:f>
              <c:strCache>
                <c:ptCount val="4"/>
                <c:pt idx="0">
                  <c:v>Price</c:v>
                </c:pt>
                <c:pt idx="1">
                  <c:v>Volume</c:v>
                </c:pt>
                <c:pt idx="2">
                  <c:v>Mix</c:v>
                </c:pt>
                <c:pt idx="3">
                  <c:v>Total</c:v>
                </c:pt>
              </c:strCache>
            </c:strRef>
          </c:cat>
          <c:val>
            <c:numRef>
              <c:f>'Chart Data'!$N$2:$N$5</c:f>
              <c:numCache>
                <c:formatCode>#,##0</c:formatCode>
                <c:ptCount val="4"/>
                <c:pt idx="0">
                  <c:v>0</c:v>
                </c:pt>
                <c:pt idx="1">
                  <c:v>0</c:v>
                </c:pt>
                <c:pt idx="2">
                  <c:v>0</c:v>
                </c:pt>
                <c:pt idx="3">
                  <c:v>90</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1"/>
          <c:showCatName val="0"/>
          <c:showSerName val="0"/>
          <c:showPercent val="0"/>
          <c:showBubbleSize val="0"/>
          <c:showLeaderLines val="0"/>
          <c:leaderLines>
            <c:spPr>
              <ns7:ln xmlns:ns7="http://schemas.openxmlformats.org/drawingml/2006/main" w="0">
                <ns7:noFill/>
              </ns7:ln>
            </c:spPr>
          </c:leaderLines>
        </c:dLbls>
        <c:gapWidth val="50"/>
        <c:overlap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ED9"/>
            </a:solidFill>
          </a:ln>
        </c:spPr>
        <c:txPr>
          <a:bodyPr xmlns:a="http://schemas.openxmlformats.org/drawingml/2006/main" anchorCtr="1"/>
          <a:lstStyle xmlns:a="http://schemas.openxmlformats.org/drawingml/2006/main"/>
          <a:p xmlns:a="http://schemas.openxmlformats.org/drawingml/2006/main">
            <a:pPr>
              <a:defRPr sz="1200">
                <a:solidFill>
                  <a:srgbClr val="54625D"/>
                </a:solidFill>
                <a:latin typeface="Arial"/>
                <a:ea typeface="Arial"/>
                <a:cs typeface="Arial"/>
              </a:defRPr>
            </a:pPr>
          </a:p>
        </c:txPr>
        <c:crossAx val="48672768"/>
      </c:catAx>
      <c:valAx>
        <c:axId val="48672768"/>
        <c:scaling>
          <c:orientation val="minMax"/>
          <c:max val="130"/>
          <c:min val="-110"/>
        </c:scaling>
        <c:delete val="0"/>
        <c:axPos val="l"/>
        <c:numFmt formatCode="#,##0"/>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54625D"/>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basePos</c:v>
          </c:tx>
          <c:spPr>
            <a:noFill xmlns:a="http://schemas.openxmlformats.org/drawingml/2006/main"/>
            <a:ln xmlns:a="http://schemas.openxmlformats.org/drawingml/2006/main" w="0">
              <a:noFill/>
            </a:ln>
          </c:spPr>
          <c:cat>
            <c:strRef>
              <c:f>'Chart Data'!$A$2:$A$5</c:f>
              <c:strCache>
                <c:ptCount val="4"/>
                <c:pt idx="0">
                  <c:v>Price</c:v>
                </c:pt>
                <c:pt idx="1">
                  <c:v>Volume</c:v>
                </c:pt>
                <c:pt idx="2">
                  <c:v>Mix</c:v>
                </c:pt>
                <c:pt idx="3">
                  <c:v>Total</c:v>
                </c:pt>
              </c:strCache>
            </c:strRef>
          </c:cat>
          <c:val>
            <c:numRef>
              <c:f>'Chart Data'!$B$2:$B$5</c:f>
              <c:numCache>
                <c:formatCode>#,##0</c:formatCode>
                <c:ptCount val="4"/>
                <c:pt idx="0">
                  <c:v>0</c:v>
                </c:pt>
                <c:pt idx="1">
                  <c:v>0</c:v>
                </c:pt>
                <c:pt idx="2">
                  <c:v>0</c:v>
                </c:pt>
                <c:pt idx="3">
                  <c:v>0</c:v>
                </c:pt>
              </c:numCache>
            </c:numRef>
          </c:val>
          <c:dLbls>
            <c:showLegendKey val="0"/>
            <c:showVal val="0"/>
            <c:showCatName val="0"/>
            <c:showSerName val="0"/>
            <c:showPercent val="0"/>
            <c:showBubbleSize val="0"/>
            <c:showLeaderLines val="0"/>
            <c:leaderLines>
              <c:spPr>
                <ns0:ln xmlns:ns0="http://schemas.openxmlformats.org/drawingml/2006/main" w="0">
                  <ns0:noFill/>
                </ns0:ln>
              </c:spPr>
            </c:leaderLines>
          </c:dLbls>
        </c:ser>
        <c:ser>
          <c:idx val="1"/>
          <c:order val="1"/>
          <c:tx>
            <c:v>baseNeg</c:v>
          </c:tx>
          <c:spPr>
            <a:noFill xmlns:a="http://schemas.openxmlformats.org/drawingml/2006/main"/>
            <a:ln xmlns:a="http://schemas.openxmlformats.org/drawingml/2006/main" w="0">
              <a:noFill/>
            </a:ln>
          </c:spPr>
          <c:invertIfNegative val="0"/>
          <c:cat>
            <c:strRef>
              <c:f>'Chart Data'!$C$2:$C$5</c:f>
              <c:strCache>
                <c:ptCount val="4"/>
                <c:pt idx="0">
                  <c:v>Price</c:v>
                </c:pt>
                <c:pt idx="1">
                  <c:v>Volume</c:v>
                </c:pt>
                <c:pt idx="2">
                  <c:v>Mix</c:v>
                </c:pt>
                <c:pt idx="3">
                  <c:v>Total</c:v>
                </c:pt>
              </c:strCache>
            </c:strRef>
          </c:cat>
          <c:val>
            <c:numRef>
              <c:f>'Chart Data'!$D$2:$D$5</c:f>
              <c:numCache>
                <c:formatCode>#,##0</c:formatCode>
                <c:ptCount val="4"/>
                <c:pt idx="0">
                  <c:v>0</c:v>
                </c:pt>
                <c:pt idx="1">
                  <c:v>-212</c:v>
                </c:pt>
                <c:pt idx="2">
                  <c:v>-70</c:v>
                </c:pt>
                <c:pt idx="3">
                  <c:v>0</c:v>
                </c:pt>
              </c:numCache>
            </c:numRef>
          </c:val>
          <c:dLbls>
            <c:showLegendKey val="0"/>
            <c:showVal val="0"/>
            <c:showCatName val="0"/>
            <c:showSerName val="0"/>
            <c:showPercent val="0"/>
            <c:showBubbleSize val="0"/>
            <c:showLeaderLines val="0"/>
            <c:leaderLines>
              <c:spPr>
                <ns1:ln xmlns:ns1="http://schemas.openxmlformats.org/drawingml/2006/main" w="0">
                  <ns1:noFill/>
                </ns1:ln>
              </c:spPr>
            </c:leaderLines>
          </c:dLbls>
        </c:ser>
        <c:ser>
          <c:idx val="2"/>
          <c:order val="2"/>
          <c:tx>
            <c:v>gainPos</c:v>
          </c:tx>
          <c:spPr>
            <a:solidFill xmlns:a="http://schemas.openxmlformats.org/drawingml/2006/main">
              <a:srgbClr val="087F72"/>
            </a:solidFill>
            <a:ln xmlns:a="http://schemas.openxmlformats.org/drawingml/2006/main" w="0">
              <a:noFill/>
            </a:ln>
          </c:spPr>
          <c:dLbls>
            <c:dLbl>
              <c:idx val="0"/>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1"/>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2"/>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3"/>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2:ln xmlns:ns2="http://schemas.openxmlformats.org/drawingml/2006/main" w="0">
                  <ns2:noFill/>
                </ns2:ln>
              </c:spPr>
            </c:leaderLines>
          </c:dLbls>
          <c:cat>
            <c:strRef>
              <c:f>'Chart Data'!$E$2:$E$5</c:f>
              <c:strCache>
                <c:ptCount val="4"/>
                <c:pt idx="0">
                  <c:v>Price</c:v>
                </c:pt>
                <c:pt idx="1">
                  <c:v>Volume</c:v>
                </c:pt>
                <c:pt idx="2">
                  <c:v>Mix</c:v>
                </c:pt>
                <c:pt idx="3">
                  <c:v>Total</c:v>
                </c:pt>
              </c:strCache>
            </c:strRef>
          </c:cat>
          <c:val>
            <c:numRef>
              <c:f>'Chart Data'!$F$2:$F$5</c:f>
              <c:numCache>
                <c:formatCode>#,##0</c:formatCode>
                <c:ptCount val="4"/>
                <c:pt idx="0">
                  <c:v>0</c:v>
                </c:pt>
                <c:pt idx="1">
                  <c:v>0</c:v>
                </c:pt>
                <c:pt idx="2">
                  <c:v>0</c:v>
                </c:pt>
                <c:pt idx="3">
                  <c:v>0</c:v>
                </c:pt>
              </c:numCache>
            </c:numRef>
          </c:val>
        </c:ser>
        <c:ser>
          <c:idx val="3"/>
          <c:order val="3"/>
          <c:tx>
            <c:v>gainNeg</c:v>
          </c:tx>
          <c:spPr>
            <a:solidFill xmlns:a="http://schemas.openxmlformats.org/drawingml/2006/main">
              <a:srgbClr val="087F72"/>
            </a:solidFill>
            <a:ln xmlns:a="http://schemas.openxmlformats.org/drawingml/2006/main" w="0">
              <a:noFill/>
            </a:ln>
          </c:spPr>
          <c:invertIfNegative val="0"/>
          <c:dLbls>
            <c:dLbl>
              <c:idx val="0"/>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1"/>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+38</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1"/>
              <c:showCatName val="0"/>
              <c:showSerName val="0"/>
              <c:showPercent val="0"/>
              <c:showBubbleSize val="0"/>
            </c:dLbl>
            <c:dLbl>
              <c:idx val="2"/>
              <c:tx>
                <c:rich>
                  <a:bodyPr xmlns:a="http://schemas.openxmlformats.org/drawingml/2006/main" lIns="76200" rIns="76200" tIns="57150" bIns="57150"/>
                  <a:lstStyle xmlns:a="http://schemas.openxmlformats.org/drawingml/2006/main"/>
                  <a:p xmlns:a="http://schemas.openxmlformats.org/drawingml/2006/main">
                    <a:r>
                      <a:rPr sz="1350" b="1">
                        <a:solidFill>
                          <a:srgbClr val="FFFFFF"/>
                        </a:solidFill>
                        <a:latin typeface="Arial"/>
                        <a:ea typeface="Arial"/>
                        <a:cs typeface="Arial"/>
                      </a:rPr>
                      <a:t>+142</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350" b="1">
                      <a:solidFill>
                        <a:srgbClr val="FFFFFF"/>
                      </a:solidFill>
                      <a:latin typeface="Arial"/>
                      <a:ea typeface="Arial"/>
                      <a:cs typeface="Arial"/>
                    </a:defRPr>
                  </a:pPr>
                </a:p>
              </c:txPr>
              <c:dLblPos val="ctr"/>
              <c:showLegendKey val="0"/>
              <c:showVal val="1"/>
              <c:showCatName val="0"/>
              <c:showSerName val="0"/>
              <c:showPercent val="0"/>
              <c:showBubbleSize val="0"/>
            </c:dLbl>
            <c:dLbl>
              <c:idx val="3"/>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3:ln xmlns:ns3="http://schemas.openxmlformats.org/drawingml/2006/main" w="0">
                  <ns3:noFill/>
                </ns3:ln>
              </c:spPr>
            </c:leaderLines>
          </c:dLbls>
          <c:cat>
            <c:strRef>
              <c:f>'Chart Data'!$G$2:$G$5</c:f>
              <c:strCache>
                <c:ptCount val="4"/>
                <c:pt idx="0">
                  <c:v>Price</c:v>
                </c:pt>
                <c:pt idx="1">
                  <c:v>Volume</c:v>
                </c:pt>
                <c:pt idx="2">
                  <c:v>Mix</c:v>
                </c:pt>
                <c:pt idx="3">
                  <c:v>Total</c:v>
                </c:pt>
              </c:strCache>
            </c:strRef>
          </c:cat>
          <c:val>
            <c:numRef>
              <c:f>'Chart Data'!$H$2:$H$5</c:f>
              <c:numCache>
                <c:formatCode>#,##0</c:formatCode>
                <c:ptCount val="4"/>
                <c:pt idx="0">
                  <c:v>0</c:v>
                </c:pt>
                <c:pt idx="1">
                  <c:v>-38</c:v>
                </c:pt>
                <c:pt idx="2">
                  <c:v>-142</c:v>
                </c:pt>
                <c:pt idx="3">
                  <c:v>0</c:v>
                </c:pt>
              </c:numCache>
            </c:numRef>
          </c:val>
        </c:ser>
        <c:ser>
          <c:idx val="4"/>
          <c:order val="4"/>
          <c:tx>
            <c:v>lossPos</c:v>
          </c:tx>
          <c:spPr>
            <a:solidFill xmlns:a="http://schemas.openxmlformats.org/drawingml/2006/main">
              <a:srgbClr val="87978E"/>
            </a:solidFill>
            <a:ln xmlns:a="http://schemas.openxmlformats.org/drawingml/2006/main" w="0">
              <a:noFill/>
            </a:ln>
          </c:spPr>
          <c:dLbls>
            <c:dLbl>
              <c:idx val="0"/>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1"/>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2"/>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3"/>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4:ln xmlns:ns4="http://schemas.openxmlformats.org/drawingml/2006/main" w="0">
                  <ns4:noFill/>
                </ns4:ln>
              </c:spPr>
            </c:leaderLines>
          </c:dLbls>
          <c:cat>
            <c:strRef>
              <c:f>'Chart Data'!$I$2:$I$5</c:f>
              <c:strCache>
                <c:ptCount val="4"/>
                <c:pt idx="0">
                  <c:v>Price</c:v>
                </c:pt>
                <c:pt idx="1">
                  <c:v>Volume</c:v>
                </c:pt>
                <c:pt idx="2">
                  <c:v>Mix</c:v>
                </c:pt>
                <c:pt idx="3">
                  <c:v>Total</c:v>
                </c:pt>
              </c:strCache>
            </c:strRef>
          </c:cat>
          <c:val>
            <c:numRef>
              <c:f>'Chart Data'!$J$2:$J$5</c:f>
              <c:numCache>
                <c:formatCode>#,##0</c:formatCode>
                <c:ptCount val="4"/>
                <c:pt idx="0">
                  <c:v>0</c:v>
                </c:pt>
                <c:pt idx="1">
                  <c:v>0</c:v>
                </c:pt>
                <c:pt idx="2">
                  <c:v>0</c:v>
                </c:pt>
                <c:pt idx="3">
                  <c:v>0</c:v>
                </c:pt>
              </c:numCache>
            </c:numRef>
          </c:val>
        </c:ser>
        <c:ser>
          <c:idx val="5"/>
          <c:order val="5"/>
          <c:tx>
            <c:v>lossNeg</c:v>
          </c:tx>
          <c:spPr>
            <a:solidFill xmlns:a="http://schemas.openxmlformats.org/drawingml/2006/main">
              <a:srgbClr val="87978E"/>
            </a:solidFill>
            <a:ln xmlns:a="http://schemas.openxmlformats.org/drawingml/2006/main" w="0">
              <a:noFill/>
            </a:ln>
          </c:spPr>
          <c:invertIfNegative val="0"/>
          <c:dLbls>
            <c:dLbl>
              <c:idx val="0"/>
              <c:tx>
                <c:rich>
                  <a:bodyPr xmlns:a="http://schemas.openxmlformats.org/drawingml/2006/main" lIns="76200" rIns="76200" tIns="57150" bIns="57150"/>
                  <a:lstStyle xmlns:a="http://schemas.openxmlformats.org/drawingml/2006/main"/>
                  <a:p xmlns:a="http://schemas.openxmlformats.org/drawingml/2006/main">
                    <a:r>
                      <a:rPr sz="1350" b="1">
                        <a:solidFill>
                          <a:srgbClr val="17221F"/>
                        </a:solidFill>
                        <a:latin typeface="Arial"/>
                        <a:ea typeface="Arial"/>
                        <a:cs typeface="Arial"/>
                      </a:rPr>
                      <a:t>-250</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350" b="1">
                      <a:solidFill>
                        <a:srgbClr val="17221F"/>
                      </a:solidFill>
                      <a:latin typeface="Arial"/>
                      <a:ea typeface="Arial"/>
                      <a:cs typeface="Arial"/>
                    </a:defRPr>
                  </a:pPr>
                </a:p>
              </c:txPr>
              <c:dLblPos val="ctr"/>
              <c:showLegendKey val="0"/>
              <c:showVal val="1"/>
              <c:showCatName val="0"/>
              <c:showSerName val="0"/>
              <c:showPercent val="0"/>
              <c:showBubbleSize val="0"/>
            </c:dLbl>
            <c:dLbl>
              <c:idx val="1"/>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2"/>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dLbl>
              <c:idx val="3"/>
              <c:layout>
                <c:manualLayout>
                  <c:xMode val="edge"/>
                  <c:yMode val="edge"/>
                  <c:x val="0"/>
                  <c:y val="-0.14"/>
                </c:manualLayout>
              </c:layout>
              <c:tx>
                <c:rich>
                  <a:bodyPr xmlns:a="http://schemas.openxmlformats.org/drawingml/2006/main" lIns="76200" rIns="76200" tIns="66675" bIns="66675"/>
                  <a:lstStyle xmlns:a="http://schemas.openxmlformats.org/drawingml/2006/main"/>
                  <a:p xmlns:a="http://schemas.openxmlformats.org/drawingml/2006/main">
                    <a:r>
                      <a:rPr sz="1350" b="1">
                        <a:solidFill>
                          <a:srgbClr val="17221F"/>
                        </a:solidFill>
                        <a:latin typeface="Arial"/>
                        <a:ea typeface="Arial"/>
                        <a:cs typeface="Arial"/>
                      </a:rPr>
                      <a:t/>
                    </a:r>
                  </a:p>
                </c:rich>
              </c:tx>
              <c:spPr>
                <a:solidFill xmlns:a="http://schemas.openxmlformats.org/drawingml/2006/main">
                  <a:srgbClr val="FFFFFF"/>
                </a:solidFill>
                <a:ln xmlns:a="http://schemas.openxmlformats.org/drawingml/2006/main" w="0">
                  <a:noFill/>
                </a:ln>
              </c:spPr>
              <c:txPr>
                <a:bodyPr xmlns:a="http://schemas.openxmlformats.org/drawingml/2006/main" anchorCtr="1" lIns="76200" rIns="76200" tIns="66675" bIns="66675"/>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0"/>
              <c:showCatName val="0"/>
              <c:showSerName val="0"/>
              <c:showPercent val="0"/>
              <c:showBubbleSize val="0"/>
            </c:dLbl>
            <c:showLeaderLines val="0"/>
            <c:leaderLines>
              <c:spPr>
                <ns5:ln xmlns:ns5="http://schemas.openxmlformats.org/drawingml/2006/main" w="0">
                  <ns5:noFill/>
                </ns5:ln>
              </c:spPr>
            </c:leaderLines>
          </c:dLbls>
          <c:cat>
            <c:strRef>
              <c:f>'Chart Data'!$K$2:$K$5</c:f>
              <c:strCache>
                <c:ptCount val="4"/>
                <c:pt idx="0">
                  <c:v>Price</c:v>
                </c:pt>
                <c:pt idx="1">
                  <c:v>Volume</c:v>
                </c:pt>
                <c:pt idx="2">
                  <c:v>Mix</c:v>
                </c:pt>
                <c:pt idx="3">
                  <c:v>Total</c:v>
                </c:pt>
              </c:strCache>
            </c:strRef>
          </c:cat>
          <c:val>
            <c:numRef>
              <c:f>'Chart Data'!$L$2:$L$5</c:f>
              <c:numCache>
                <c:formatCode>#,##0</c:formatCode>
                <c:ptCount val="4"/>
                <c:pt idx="0">
                  <c:v>-250</c:v>
                </c:pt>
                <c:pt idx="1">
                  <c:v>0</c:v>
                </c:pt>
                <c:pt idx="2">
                  <c:v>0</c:v>
                </c:pt>
                <c:pt idx="3">
                  <c:v>0</c:v>
                </c:pt>
              </c:numCache>
            </c:numRef>
          </c:val>
        </c:ser>
        <c:ser>
          <c:idx val="6"/>
          <c:order val="6"/>
          <c:tx>
            <c:v>total</c:v>
          </c:tx>
          <c:spPr>
            <a:solidFill xmlns:a="http://schemas.openxmlformats.org/drawingml/2006/main">
              <a:srgbClr val="17221F"/>
            </a:solidFill>
            <a:ln xmlns:a="http://schemas.openxmlformats.org/drawingml/2006/main" w="0">
              <a:noFill/>
            </a:ln>
          </c:spPr>
          <c:invertIfNegative val="0"/>
          <c:dLbls>
            <c:dLbl>
              <c:idx val="0"/>
              <c:tx>
                <c:rich>
                  <a:bodyPr xmlns:a="http://schemas.openxmlformats.org/drawingml/2006/main" lIns="76200" rIns="76200" tIns="57150" bIns="57150"/>
                  <a:lstStyle xmlns:a="http://schemas.openxmlformats.org/drawingml/2006/main"/>
                  <a:p xmlns:a="http://schemas.openxmlformats.org/drawingml/2006/main">
                    <a:r>
                      <a:rPr sz="135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350" b="1">
                      <a:solidFill>
                        <a:srgbClr val="FFFFFF"/>
                      </a:solidFill>
                      <a:latin typeface="Arial"/>
                      <a:ea typeface="Arial"/>
                      <a:cs typeface="Arial"/>
                    </a:defRPr>
                  </a:pPr>
                </a:p>
              </c:txPr>
              <c:dLblPos val="inEnd"/>
              <c:showLegendKey val="0"/>
              <c:showVal val="0"/>
              <c:showCatName val="0"/>
              <c:showSerName val="0"/>
              <c:showPercent val="0"/>
              <c:showBubbleSize val="0"/>
            </c:dLbl>
            <c:dLbl>
              <c:idx val="1"/>
              <c:tx>
                <c:rich>
                  <a:bodyPr xmlns:a="http://schemas.openxmlformats.org/drawingml/2006/main" lIns="76200" rIns="76200" tIns="57150" bIns="57150"/>
                  <a:lstStyle xmlns:a="http://schemas.openxmlformats.org/drawingml/2006/main"/>
                  <a:p xmlns:a="http://schemas.openxmlformats.org/drawingml/2006/main">
                    <a:r>
                      <a:rPr sz="135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350" b="1">
                      <a:solidFill>
                        <a:srgbClr val="FFFFFF"/>
                      </a:solidFill>
                      <a:latin typeface="Arial"/>
                      <a:ea typeface="Arial"/>
                      <a:cs typeface="Arial"/>
                    </a:defRPr>
                  </a:pPr>
                </a:p>
              </c:txPr>
              <c:dLblPos val="inEnd"/>
              <c:showLegendKey val="0"/>
              <c:showVal val="0"/>
              <c:showCatName val="0"/>
              <c:showSerName val="0"/>
              <c:showPercent val="0"/>
              <c:showBubbleSize val="0"/>
            </c:dLbl>
            <c:dLbl>
              <c:idx val="2"/>
              <c:tx>
                <c:rich>
                  <a:bodyPr xmlns:a="http://schemas.openxmlformats.org/drawingml/2006/main" lIns="76200" rIns="76200" tIns="57150" bIns="57150"/>
                  <a:lstStyle xmlns:a="http://schemas.openxmlformats.org/drawingml/2006/main"/>
                  <a:p xmlns:a="http://schemas.openxmlformats.org/drawingml/2006/main">
                    <a:r>
                      <a:rPr sz="1350" b="1">
                        <a:solidFill>
                          <a:srgbClr val="FFFFFF"/>
                        </a:solidFill>
                        <a:latin typeface="Arial"/>
                        <a:ea typeface="Arial"/>
                        <a:cs typeface="Arial"/>
                      </a:rPr>
                      <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350" b="1">
                      <a:solidFill>
                        <a:srgbClr val="FFFFFF"/>
                      </a:solidFill>
                      <a:latin typeface="Arial"/>
                      <a:ea typeface="Arial"/>
                      <a:cs typeface="Arial"/>
                    </a:defRPr>
                  </a:pPr>
                </a:p>
              </c:txPr>
              <c:dLblPos val="inEnd"/>
              <c:showLegendKey val="0"/>
              <c:showVal val="0"/>
              <c:showCatName val="0"/>
              <c:showSerName val="0"/>
              <c:showPercent val="0"/>
              <c:showBubbleSize val="0"/>
            </c:dLbl>
            <c:dLbl>
              <c:idx val="3"/>
              <c:tx>
                <c:rich>
                  <a:bodyPr xmlns:a="http://schemas.openxmlformats.org/drawingml/2006/main" lIns="76200" rIns="76200" tIns="57150" bIns="57150"/>
                  <a:lstStyle xmlns:a="http://schemas.openxmlformats.org/drawingml/2006/main"/>
                  <a:p xmlns:a="http://schemas.openxmlformats.org/drawingml/2006/main">
                    <a:r>
                      <a:rPr sz="1350" b="1">
                        <a:solidFill>
                          <a:srgbClr val="FFFFFF"/>
                        </a:solidFill>
                        <a:latin typeface="Arial"/>
                        <a:ea typeface="Arial"/>
                        <a:cs typeface="Arial"/>
                      </a:rPr>
                      <a:t>-70</a:t>
                    </a:r>
                  </a:p>
                </c:rich>
              </c:tx>
              <c:spPr>
                <a:noFill xmlns:a="http://schemas.openxmlformats.org/drawingml/2006/main"/>
                <a:ln xmlns:a="http://schemas.openxmlformats.org/drawingml/2006/main" w="0">
                  <a:noFill/>
                </a:ln>
              </c:spPr>
              <c:txPr>
                <a:bodyPr xmlns:a="http://schemas.openxmlformats.org/drawingml/2006/main" anchorCtr="1" lIns="76200" rIns="76200" tIns="57150" bIns="57150"/>
                <a:lstStyle xmlns:a="http://schemas.openxmlformats.org/drawingml/2006/main"/>
                <a:p xmlns:a="http://schemas.openxmlformats.org/drawingml/2006/main">
                  <a:pPr>
                    <a:defRPr sz="1350" b="1">
                      <a:solidFill>
                        <a:srgbClr val="FFFFFF"/>
                      </a:solidFill>
                      <a:latin typeface="Arial"/>
                      <a:ea typeface="Arial"/>
                      <a:cs typeface="Arial"/>
                    </a:defRPr>
                  </a:pPr>
                </a:p>
              </c:txPr>
              <c:dLblPos val="inEnd"/>
              <c:showLegendKey val="0"/>
              <c:showVal val="1"/>
              <c:showCatName val="0"/>
              <c:showSerName val="0"/>
              <c:showPercent val="0"/>
              <c:showBubbleSize val="0"/>
            </c:dLbl>
            <c:showLeaderLines val="0"/>
            <c:leaderLines>
              <c:spPr>
                <ns6:ln xmlns:ns6="http://schemas.openxmlformats.org/drawingml/2006/main" w="0">
                  <ns6:noFill/>
                </ns6:ln>
              </c:spPr>
            </c:leaderLines>
          </c:dLbls>
          <c:cat>
            <c:strRef>
              <c:f>'Chart Data'!$M$2:$M$5</c:f>
              <c:strCache>
                <c:ptCount val="4"/>
                <c:pt idx="0">
                  <c:v>Price</c:v>
                </c:pt>
                <c:pt idx="1">
                  <c:v>Volume</c:v>
                </c:pt>
                <c:pt idx="2">
                  <c:v>Mix</c:v>
                </c:pt>
                <c:pt idx="3">
                  <c:v>Total</c:v>
                </c:pt>
              </c:strCache>
            </c:strRef>
          </c:cat>
          <c:val>
            <c:numRef>
              <c:f>'Chart Data'!$N$2:$N$5</c:f>
              <c:numCache>
                <c:formatCode>#,##0</c:formatCode>
                <c:ptCount val="4"/>
                <c:pt idx="0">
                  <c:v>0</c:v>
                </c:pt>
                <c:pt idx="1">
                  <c:v>0</c:v>
                </c:pt>
                <c:pt idx="2">
                  <c:v>0</c:v>
                </c:pt>
                <c:pt idx="3">
                  <c:v>-70</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7221F"/>
                  </a:solidFill>
                  <a:latin typeface="Arial"/>
                  <a:ea typeface="Arial"/>
                  <a:cs typeface="Arial"/>
                </a:defRPr>
              </a:pPr>
            </a:p>
          </c:txPr>
          <c:dLblPos val="inEnd"/>
          <c:showLegendKey val="0"/>
          <c:showVal val="1"/>
          <c:showCatName val="0"/>
          <c:showSerName val="0"/>
          <c:showPercent val="0"/>
          <c:showBubbleSize val="0"/>
          <c:showLeaderLines val="0"/>
          <c:leaderLines>
            <c:spPr>
              <ns7:ln xmlns:ns7="http://schemas.openxmlformats.org/drawingml/2006/main" w="0">
                <ns7:noFill/>
              </ns7:ln>
            </c:spPr>
          </c:leaderLines>
        </c:dLbls>
        <c:gapWidth val="50"/>
        <c:overlap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ED9"/>
            </a:solidFill>
          </a:ln>
        </c:spPr>
        <c:txPr>
          <a:bodyPr xmlns:a="http://schemas.openxmlformats.org/drawingml/2006/main" anchorCtr="1"/>
          <a:lstStyle xmlns:a="http://schemas.openxmlformats.org/drawingml/2006/main"/>
          <a:p xmlns:a="http://schemas.openxmlformats.org/drawingml/2006/main">
            <a:pPr>
              <a:defRPr sz="1200">
                <a:solidFill>
                  <a:srgbClr val="54625D"/>
                </a:solidFill>
                <a:latin typeface="Arial"/>
                <a:ea typeface="Arial"/>
                <a:cs typeface="Arial"/>
              </a:defRPr>
            </a:pPr>
          </a:p>
        </c:txPr>
        <c:crossAx val="48672768"/>
      </c:catAx>
      <c:valAx>
        <c:axId val="48672768"/>
        <c:scaling>
          <c:orientation val="minMax"/>
          <c:max val="25"/>
          <c:min val="-280"/>
        </c:scaling>
        <c:delete val="0"/>
        <c:axPos val="l"/>
        <c:numFmt formatCode="#,##0"/>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54625D"/>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header">
            <a:extLst xmlns:a="http://schemas.openxmlformats.org/drawingml/2006/main">
              <a:ext uri="{FF2B5EF4-FFF2-40B4-BE49-F238E27FC236}">
                <a16:creationId xmlns:a16="http://schemas.microsoft.com/office/drawing/2014/main" id="{555DB73A-DF00-4452-8FF1-BF2756898B3D}"/>
              </a:ext>
            </a:extLst>
          </p:cNvPr>
          <p:cNvSpPr>
            <a:spLocks xmlns:a="http://schemas.openxmlformats.org/drawingml/2006/main" noGrp="1"/>
          </p:cNvSpPr>
          <p:nvPr/>
        </p:nvSpPr>
        <p:spPr>
          <a:xfrm xmlns:a="http://schemas.openxmlformats.org/drawingml/2006/main">
            <a:off x="0" y="0"/>
            <a:ext cx="15240000" cy="1743075"/>
          </a:xfrm>
          <a:prstGeom xmlns:a="http://schemas.openxmlformats.org/drawingml/2006/main" prst="rect">
            <a:avLst/>
          </a:prstGeom>
          <a:solidFill xmlns:a="http://schemas.openxmlformats.org/drawingml/2006/main">
            <a:srgbClr val="17221F"/>
          </a:solidFill>
          <a:ln xmlns:a="http://schemas.openxmlformats.org/drawingml/2006/main" w="0">
            <a:noFill/>
          </a:ln>
        </p:spPr>
      </p:sp>
      <p:sp>
        <p:nvSpPr>
          <p:cNvPr id="2" name="eyebrow">
            <a:extLst xmlns:a="http://schemas.openxmlformats.org/drawingml/2006/main">
              <a:ext uri="{FF2B5EF4-FFF2-40B4-BE49-F238E27FC236}">
                <a16:creationId xmlns:a16="http://schemas.microsoft.com/office/drawing/2014/main" id="{ED3DD3C5-008C-41A8-971F-C5C2115A8298}"/>
              </a:ext>
            </a:extLst>
          </p:cNvPr>
          <p:cNvSpPr>
            <a:spLocks xmlns:a="http://schemas.openxmlformats.org/drawingml/2006/main" noGrp="1"/>
          </p:cNvSpPr>
          <p:nvPr/>
        </p:nvSpPr>
        <p:spPr>
          <a:xfrm xmlns:a="http://schemas.openxmlformats.org/drawingml/2006/main">
            <a:off x="609600" y="2571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D8F578"/>
                </a:solidFill>
                <a:latin typeface="Arial"/>
                <a:ea typeface="Arial"/>
                <a:cs typeface="Arial"/>
              </a:defRPr>
            </a:pPr>
            <a:r>
              <a:rPr sz="1200" b="1">
                <a:solidFill>
                  <a:srgbClr val="D8F578"/>
                </a:solidFill>
                <a:latin typeface="Arial"/>
                <a:ea typeface="Arial"/>
                <a:cs typeface="Arial"/>
              </a:rPr>
              <a:t>CM1 BRIDGE  /  REGIONAL OVERVIEW</a:t>
            </a:r>
          </a:p>
        </p:txBody>
      </p:sp>
      <p:sp>
        <p:nvSpPr>
          <p:cNvPr id="3" name="title">
            <a:extLst xmlns:a="http://schemas.openxmlformats.org/drawingml/2006/main">
              <a:ext uri="{FF2B5EF4-FFF2-40B4-BE49-F238E27FC236}">
                <a16:creationId xmlns:a16="http://schemas.microsoft.com/office/drawing/2014/main" id="{DDB6146D-F28C-42FD-ACA6-34C459DF142B}"/>
              </a:ext>
            </a:extLst>
          </p:cNvPr>
          <p:cNvSpPr>
            <a:spLocks xmlns:a="http://schemas.openxmlformats.org/drawingml/2006/main" noGrp="1"/>
          </p:cNvSpPr>
          <p:nvPr/>
        </p:nvSpPr>
        <p:spPr>
          <a:xfrm xmlns:a="http://schemas.openxmlformats.org/drawingml/2006/main">
            <a:off x="609600" y="609600"/>
            <a:ext cx="1402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Regional growth by product segment</a:t>
            </a:r>
          </a:p>
        </p:txBody>
      </p:sp>
      <p:sp>
        <p:nvSpPr>
          <p:cNvPr id="4" name="machine-subtitle">
            <a:extLst xmlns:a="http://schemas.openxmlformats.org/drawingml/2006/main">
              <a:ext uri="{FF2B5EF4-FFF2-40B4-BE49-F238E27FC236}">
                <a16:creationId xmlns:a16="http://schemas.microsoft.com/office/drawing/2014/main" id="{D7E236B2-C966-4D1B-A4D2-1D37F6B5220A}"/>
              </a:ext>
            </a:extLst>
          </p:cNvPr>
          <p:cNvSpPr>
            <a:spLocks xmlns:a="http://schemas.openxmlformats.org/drawingml/2006/main" noGrp="1"/>
          </p:cNvSpPr>
          <p:nvPr/>
        </p:nvSpPr>
        <p:spPr>
          <a:xfrm xmlns:a="http://schemas.openxmlformats.org/drawingml/2006/main">
            <a:off x="609600" y="1209675"/>
            <a:ext cx="14020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D8F578"/>
                </a:solidFill>
                <a:latin typeface="Arial"/>
                <a:ea typeface="Arial"/>
                <a:cs typeface="Arial"/>
              </a:defRPr>
            </a:pPr>
            <a:r>
              <a:rPr sz="1875" b="0">
                <a:solidFill>
                  <a:srgbClr val="D8F578"/>
                </a:solidFill>
                <a:latin typeface="Arial"/>
                <a:ea typeface="Arial"/>
                <a:cs typeface="Arial"/>
              </a:rPr>
              <a:t>ACT +1,5M€ CM1 over 2.FC</a:t>
            </a:r>
          </a:p>
        </p:txBody>
      </p:sp>
      <p:sp>
        <p:nvSpPr>
          <p:cNvPr id="5" name="disclosure">
            <a:extLst xmlns:a="http://schemas.openxmlformats.org/drawingml/2006/main">
              <a:ext uri="{FF2B5EF4-FFF2-40B4-BE49-F238E27FC236}">
                <a16:creationId xmlns:a16="http://schemas.microsoft.com/office/drawing/2014/main" id="{3BB1826A-195B-4E98-9B61-8FB533EA962E}"/>
              </a:ext>
            </a:extLst>
          </p:cNvPr>
          <p:cNvSpPr>
            <a:spLocks xmlns:a="http://schemas.openxmlformats.org/drawingml/2006/main" noGrp="1"/>
          </p:cNvSpPr>
          <p:nvPr/>
        </p:nvSpPr>
        <p:spPr>
          <a:xfrm xmlns:a="http://schemas.openxmlformats.org/drawingml/2006/main">
            <a:off x="609600" y="8239125"/>
            <a:ext cx="13144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54625D"/>
                </a:solidFill>
                <a:latin typeface="Arial"/>
                <a:ea typeface="Arial"/>
                <a:cs typeface="Arial"/>
              </a:defRPr>
            </a:pPr>
            <a:r>
              <a:rPr sz="1050" b="0">
                <a:solidFill>
                  <a:srgbClr val="54625D"/>
                </a:solidFill>
                <a:latin typeface="Arial"/>
                <a:ea typeface="Arial"/>
                <a:cs typeface="Arial"/>
              </a:rPr>
              <a:t>Illustrative data. Original story wording retained with substituted names and figures.</a:t>
            </a:r>
          </a:p>
        </p:txBody>
      </p:sp>
      <p:sp>
        <p:nvSpPr>
          <p:cNvPr id="6" name="page">
            <a:extLst xmlns:a="http://schemas.openxmlformats.org/drawingml/2006/main">
              <a:ext uri="{FF2B5EF4-FFF2-40B4-BE49-F238E27FC236}">
                <a16:creationId xmlns:a16="http://schemas.microsoft.com/office/drawing/2014/main" id="{95A59806-AB95-4611-AA0C-3AF1560BFEB3}"/>
              </a:ext>
            </a:extLst>
          </p:cNvPr>
          <p:cNvSpPr>
            <a:spLocks xmlns:a="http://schemas.openxmlformats.org/drawingml/2006/main" noGrp="1"/>
          </p:cNvSpPr>
          <p:nvPr/>
        </p:nvSpPr>
        <p:spPr>
          <a:xfrm xmlns:a="http://schemas.openxmlformats.org/drawingml/2006/main">
            <a:off x="14116050" y="820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1">
                <a:solidFill>
                  <a:srgbClr val="087F72"/>
                </a:solidFill>
                <a:latin typeface="Arial"/>
                <a:ea typeface="Arial"/>
                <a:cs typeface="Arial"/>
              </a:defRPr>
            </a:pPr>
            <a:r>
              <a:rPr sz="1350" b="1">
                <a:solidFill>
                  <a:srgbClr val="087F72"/>
                </a:solidFill>
                <a:latin typeface="Arial"/>
                <a:ea typeface="Arial"/>
                <a:cs typeface="Arial"/>
              </a:rPr>
              <a:t>01</a:t>
            </a:r>
          </a:p>
        </p:txBody>
      </p:sp>
      <p:sp>
        <p:nvSpPr>
          <p:cNvPr id="7" name="kpi-label-0">
            <a:extLst xmlns:a="http://schemas.openxmlformats.org/drawingml/2006/main">
              <a:ext uri="{FF2B5EF4-FFF2-40B4-BE49-F238E27FC236}">
                <a16:creationId xmlns:a16="http://schemas.microsoft.com/office/drawing/2014/main" id="{18FAB07F-6FC9-4F7C-ACEF-A9E9E5B4A619}"/>
              </a:ext>
            </a:extLst>
          </p:cNvPr>
          <p:cNvSpPr>
            <a:spLocks xmlns:a="http://schemas.openxmlformats.org/drawingml/2006/main" noGrp="1"/>
          </p:cNvSpPr>
          <p:nvPr/>
        </p:nvSpPr>
        <p:spPr>
          <a:xfrm xmlns:a="http://schemas.openxmlformats.org/drawingml/2006/main">
            <a:off x="609600" y="1971675"/>
            <a:ext cx="440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2.FC CM1 / k€</a:t>
            </a:r>
          </a:p>
        </p:txBody>
      </p:sp>
      <p:sp>
        <p:nvSpPr>
          <p:cNvPr id="8" name="kpi-value-0">
            <a:extLst xmlns:a="http://schemas.openxmlformats.org/drawingml/2006/main">
              <a:ext uri="{FF2B5EF4-FFF2-40B4-BE49-F238E27FC236}">
                <a16:creationId xmlns:a16="http://schemas.microsoft.com/office/drawing/2014/main" id="{F3256A20-0ED5-4168-A400-38023A3E8615}"/>
              </a:ext>
            </a:extLst>
          </p:cNvPr>
          <p:cNvSpPr>
            <a:spLocks xmlns:a="http://schemas.openxmlformats.org/drawingml/2006/main" noGrp="1"/>
          </p:cNvSpPr>
          <p:nvPr/>
        </p:nvSpPr>
        <p:spPr>
          <a:xfrm xmlns:a="http://schemas.openxmlformats.org/drawingml/2006/main">
            <a:off x="609600" y="2238375"/>
            <a:ext cx="440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17221F"/>
                </a:solidFill>
                <a:latin typeface="Arial"/>
                <a:ea typeface="Arial"/>
                <a:cs typeface="Arial"/>
              </a:defRPr>
            </a:pPr>
            <a:r>
              <a:rPr sz="2700" b="1">
                <a:solidFill>
                  <a:srgbClr val="17221F"/>
                </a:solidFill>
                <a:latin typeface="Arial"/>
                <a:ea typeface="Arial"/>
                <a:cs typeface="Arial"/>
              </a:rPr>
              <a:t>92,000</a:t>
            </a:r>
          </a:p>
        </p:txBody>
      </p:sp>
      <p:sp>
        <p:nvSpPr>
          <p:cNvPr id="9" name="kpi-label-1">
            <a:extLst xmlns:a="http://schemas.openxmlformats.org/drawingml/2006/main">
              <a:ext uri="{FF2B5EF4-FFF2-40B4-BE49-F238E27FC236}">
                <a16:creationId xmlns:a16="http://schemas.microsoft.com/office/drawing/2014/main" id="{E6653AB5-6DAA-4ED8-8098-FCEBF6BBDF2B}"/>
              </a:ext>
            </a:extLst>
          </p:cNvPr>
          <p:cNvSpPr>
            <a:spLocks xmlns:a="http://schemas.openxmlformats.org/drawingml/2006/main" noGrp="1"/>
          </p:cNvSpPr>
          <p:nvPr/>
        </p:nvSpPr>
        <p:spPr>
          <a:xfrm xmlns:a="http://schemas.openxmlformats.org/drawingml/2006/main">
            <a:off x="5283200" y="1971675"/>
            <a:ext cx="440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YTD ACT CM1 / k€</a:t>
            </a:r>
          </a:p>
        </p:txBody>
      </p:sp>
      <p:sp>
        <p:nvSpPr>
          <p:cNvPr id="10" name="kpi-value-1">
            <a:extLst xmlns:a="http://schemas.openxmlformats.org/drawingml/2006/main">
              <a:ext uri="{FF2B5EF4-FFF2-40B4-BE49-F238E27FC236}">
                <a16:creationId xmlns:a16="http://schemas.microsoft.com/office/drawing/2014/main" id="{DCA9090E-DE37-4188-9E7D-7C3CFDC1A2A7}"/>
              </a:ext>
            </a:extLst>
          </p:cNvPr>
          <p:cNvSpPr>
            <a:spLocks xmlns:a="http://schemas.openxmlformats.org/drawingml/2006/main" noGrp="1"/>
          </p:cNvSpPr>
          <p:nvPr/>
        </p:nvSpPr>
        <p:spPr>
          <a:xfrm xmlns:a="http://schemas.openxmlformats.org/drawingml/2006/main">
            <a:off x="5283200" y="2238375"/>
            <a:ext cx="440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17221F"/>
                </a:solidFill>
                <a:latin typeface="Arial"/>
                <a:ea typeface="Arial"/>
                <a:cs typeface="Arial"/>
              </a:defRPr>
            </a:pPr>
            <a:r>
              <a:rPr sz="2700" b="1">
                <a:solidFill>
                  <a:srgbClr val="17221F"/>
                </a:solidFill>
                <a:latin typeface="Arial"/>
                <a:ea typeface="Arial"/>
                <a:cs typeface="Arial"/>
              </a:rPr>
              <a:t>93,500</a:t>
            </a:r>
          </a:p>
        </p:txBody>
      </p:sp>
      <p:sp>
        <p:nvSpPr>
          <p:cNvPr id="11" name="kpi-label-2">
            <a:extLst xmlns:a="http://schemas.openxmlformats.org/drawingml/2006/main">
              <a:ext uri="{FF2B5EF4-FFF2-40B4-BE49-F238E27FC236}">
                <a16:creationId xmlns:a16="http://schemas.microsoft.com/office/drawing/2014/main" id="{D549B10E-92B1-4263-9A2F-F61166D1309D}"/>
              </a:ext>
            </a:extLst>
          </p:cNvPr>
          <p:cNvSpPr>
            <a:spLocks xmlns:a="http://schemas.openxmlformats.org/drawingml/2006/main" noGrp="1"/>
          </p:cNvSpPr>
          <p:nvPr/>
        </p:nvSpPr>
        <p:spPr>
          <a:xfrm xmlns:a="http://schemas.openxmlformats.org/drawingml/2006/main">
            <a:off x="9956800" y="1971675"/>
            <a:ext cx="440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ACT vs. 2.FC / k€</a:t>
            </a:r>
          </a:p>
        </p:txBody>
      </p:sp>
      <p:sp>
        <p:nvSpPr>
          <p:cNvPr id="12" name="kpi-value-2">
            <a:extLst xmlns:a="http://schemas.openxmlformats.org/drawingml/2006/main">
              <a:ext uri="{FF2B5EF4-FFF2-40B4-BE49-F238E27FC236}">
                <a16:creationId xmlns:a16="http://schemas.microsoft.com/office/drawing/2014/main" id="{7F5A98FD-9865-4064-A11B-97BF4169BCFC}"/>
              </a:ext>
            </a:extLst>
          </p:cNvPr>
          <p:cNvSpPr>
            <a:spLocks xmlns:a="http://schemas.openxmlformats.org/drawingml/2006/main" noGrp="1"/>
          </p:cNvSpPr>
          <p:nvPr/>
        </p:nvSpPr>
        <p:spPr>
          <a:xfrm xmlns:a="http://schemas.openxmlformats.org/drawingml/2006/main">
            <a:off x="9956800" y="2238375"/>
            <a:ext cx="440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087F72"/>
                </a:solidFill>
                <a:latin typeface="Arial"/>
                <a:ea typeface="Arial"/>
                <a:cs typeface="Arial"/>
              </a:defRPr>
            </a:pPr>
            <a:r>
              <a:rPr sz="2700" b="1">
                <a:solidFill>
                  <a:srgbClr val="087F72"/>
                </a:solidFill>
                <a:latin typeface="Arial"/>
                <a:ea typeface="Arial"/>
                <a:cs typeface="Arial"/>
              </a:rPr>
              <a:t>+1,500</a:t>
            </a:r>
          </a:p>
        </p:txBody>
      </p:sp>
      <p:sp>
        <p:nvSpPr>
          <p:cNvPr id="13" name="chart-context">
            <a:extLst xmlns:a="http://schemas.openxmlformats.org/drawingml/2006/main">
              <a:ext uri="{FF2B5EF4-FFF2-40B4-BE49-F238E27FC236}">
                <a16:creationId xmlns:a16="http://schemas.microsoft.com/office/drawing/2014/main" id="{F90E43FC-4E6F-486D-9B65-3EB9E763022C}"/>
              </a:ext>
            </a:extLst>
          </p:cNvPr>
          <p:cNvSpPr>
            <a:spLocks xmlns:a="http://schemas.openxmlformats.org/drawingml/2006/main" noGrp="1"/>
          </p:cNvSpPr>
          <p:nvPr/>
        </p:nvSpPr>
        <p:spPr>
          <a:xfrm xmlns:a="http://schemas.openxmlformats.org/drawingml/2006/main">
            <a:off x="609600" y="2952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17221F"/>
                </a:solidFill>
                <a:latin typeface="Arial"/>
                <a:ea typeface="Arial"/>
                <a:cs typeface="Arial"/>
              </a:defRPr>
            </a:pPr>
            <a:r>
              <a:rPr sz="1725" b="1">
                <a:solidFill>
                  <a:srgbClr val="17221F"/>
                </a:solidFill>
                <a:latin typeface="Arial"/>
                <a:ea typeface="Arial"/>
                <a:cs typeface="Arial"/>
              </a:rPr>
              <a:t>Contribution margin bridge / k€</a:t>
            </a:r>
          </a:p>
        </p:txBody>
      </p:sp>
      <p:graphicFrame>
        <p:nvGraphicFramePr>
          <p:cNvPr id="29" name="Chart"/>
          <p:cNvGraphicFramePr/>
          <p:nvPr/>
        </p:nvGraphicFramePr>
        <p:xfrm>
          <a:off xmlns:a="http://schemas.openxmlformats.org/drawingml/2006/main" x="609600" y="3476625"/>
          <a:ext xmlns:a="http://schemas.openxmlformats.org/drawingml/2006/main" cx="14020800" cy="4000500"/>
        </p:xfrm>
        <a:graphic xmlns:a="http://schemas.openxmlformats.org/drawingml/2006/main">
          <a:graphicData uri="http://schemas.openxmlformats.org/drawingml/2006/chart">
            <c:chart xmlns:r="http://schemas.openxmlformats.org/officeDocument/2006/relationships" xmlns:c="http://schemas.openxmlformats.org/drawingml/2006/chart" r:id="R0c26a492583b4e46"/>
          </a:graphicData>
        </a:graphic>
      </p:graphicFrame>
      <p:sp>
        <p:nvSpPr>
          <p:cNvPr id="15" name="axis-note">
            <a:extLst xmlns:a="http://schemas.openxmlformats.org/drawingml/2006/main">
              <a:ext uri="{FF2B5EF4-FFF2-40B4-BE49-F238E27FC236}">
                <a16:creationId xmlns:a16="http://schemas.microsoft.com/office/drawing/2014/main" id="{FD8B66BE-AA59-43D2-9D08-4B3D21A4886B}"/>
              </a:ext>
            </a:extLst>
          </p:cNvPr>
          <p:cNvSpPr>
            <a:spLocks xmlns:a="http://schemas.openxmlformats.org/drawingml/2006/main" noGrp="1"/>
          </p:cNvSpPr>
          <p:nvPr/>
        </p:nvSpPr>
        <p:spPr>
          <a:xfrm xmlns:a="http://schemas.openxmlformats.org/drawingml/2006/main">
            <a:off x="609600" y="7743825"/>
            <a:ext cx="14020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4625D"/>
                </a:solidFill>
                <a:latin typeface="Arial"/>
                <a:ea typeface="Arial"/>
                <a:cs typeface="Arial"/>
              </a:defRPr>
            </a:pPr>
            <a:r>
              <a:rPr sz="1275" b="0">
                <a:solidFill>
                  <a:srgbClr val="54625D"/>
                </a:solidFill>
                <a:latin typeface="Arial"/>
                <a:ea typeface="Arial"/>
                <a:cs typeface="Arial"/>
              </a:rPr>
              <a:t>Axis begins at 90,000 k€. The other / reconciliation row closes the bridge to the reported total.</a:t>
            </a:r>
          </a:p>
        </p:txBody>
      </p:sp>
    </p:spTree>
    <p:extLst>
      <p:ext uri="{BB962C8B-B14F-4D97-AF65-F5344CB8AC3E}">
        <p14:creationId xmlns:p14="http://schemas.microsoft.com/office/powerpoint/2010/main" val="8551804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header">
            <a:extLst xmlns:a="http://schemas.openxmlformats.org/drawingml/2006/main">
              <a:ext uri="{FF2B5EF4-FFF2-40B4-BE49-F238E27FC236}">
                <a16:creationId xmlns:a16="http://schemas.microsoft.com/office/drawing/2014/main" id="{93F8B85D-5365-4E7B-BE4E-5D4A46A7DA9A}"/>
              </a:ext>
            </a:extLst>
          </p:cNvPr>
          <p:cNvSpPr>
            <a:spLocks xmlns:a="http://schemas.openxmlformats.org/drawingml/2006/main" noGrp="1"/>
          </p:cNvSpPr>
          <p:nvPr/>
        </p:nvSpPr>
        <p:spPr>
          <a:xfrm xmlns:a="http://schemas.openxmlformats.org/drawingml/2006/main">
            <a:off x="0" y="0"/>
            <a:ext cx="15240000" cy="1743075"/>
          </a:xfrm>
          <a:prstGeom xmlns:a="http://schemas.openxmlformats.org/drawingml/2006/main" prst="rect">
            <a:avLst/>
          </a:prstGeom>
          <a:solidFill xmlns:a="http://schemas.openxmlformats.org/drawingml/2006/main">
            <a:srgbClr val="17221F"/>
          </a:solidFill>
          <a:ln xmlns:a="http://schemas.openxmlformats.org/drawingml/2006/main" w="0">
            <a:noFill/>
          </a:ln>
        </p:spPr>
      </p:sp>
      <p:sp>
        <p:nvSpPr>
          <p:cNvPr id="2" name="eyebrow">
            <a:extLst xmlns:a="http://schemas.openxmlformats.org/drawingml/2006/main">
              <a:ext uri="{FF2B5EF4-FFF2-40B4-BE49-F238E27FC236}">
                <a16:creationId xmlns:a16="http://schemas.microsoft.com/office/drawing/2014/main" id="{D95B674B-429D-45F4-96A9-3B6C940FDF19}"/>
              </a:ext>
            </a:extLst>
          </p:cNvPr>
          <p:cNvSpPr>
            <a:spLocks xmlns:a="http://schemas.openxmlformats.org/drawingml/2006/main" noGrp="1"/>
          </p:cNvSpPr>
          <p:nvPr/>
        </p:nvSpPr>
        <p:spPr>
          <a:xfrm xmlns:a="http://schemas.openxmlformats.org/drawingml/2006/main">
            <a:off x="609600" y="2571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D8F578"/>
                </a:solidFill>
                <a:latin typeface="Arial"/>
                <a:ea typeface="Arial"/>
                <a:cs typeface="Arial"/>
              </a:defRPr>
            </a:pPr>
            <a:r>
              <a:rPr sz="1200" b="1">
                <a:solidFill>
                  <a:srgbClr val="D8F578"/>
                </a:solidFill>
                <a:latin typeface="Arial"/>
                <a:ea typeface="Arial"/>
                <a:cs typeface="Arial"/>
              </a:rPr>
              <a:t>CM1 BRIDGE  /  REGIONAL OVERVIEW</a:t>
            </a:r>
          </a:p>
        </p:txBody>
      </p:sp>
      <p:sp>
        <p:nvSpPr>
          <p:cNvPr id="3" name="title">
            <a:extLst xmlns:a="http://schemas.openxmlformats.org/drawingml/2006/main">
              <a:ext uri="{FF2B5EF4-FFF2-40B4-BE49-F238E27FC236}">
                <a16:creationId xmlns:a16="http://schemas.microsoft.com/office/drawing/2014/main" id="{90E5A10C-D648-4001-9684-C56A528F63F5}"/>
              </a:ext>
            </a:extLst>
          </p:cNvPr>
          <p:cNvSpPr>
            <a:spLocks xmlns:a="http://schemas.openxmlformats.org/drawingml/2006/main" noGrp="1"/>
          </p:cNvSpPr>
          <p:nvPr/>
        </p:nvSpPr>
        <p:spPr>
          <a:xfrm xmlns:a="http://schemas.openxmlformats.org/drawingml/2006/main">
            <a:off x="609600" y="609600"/>
            <a:ext cx="1402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Regional PVM analysis by segment</a:t>
            </a:r>
          </a:p>
        </p:txBody>
      </p:sp>
      <p:sp>
        <p:nvSpPr>
          <p:cNvPr id="4" name="machine-subtitle">
            <a:extLst xmlns:a="http://schemas.openxmlformats.org/drawingml/2006/main">
              <a:ext uri="{FF2B5EF4-FFF2-40B4-BE49-F238E27FC236}">
                <a16:creationId xmlns:a16="http://schemas.microsoft.com/office/drawing/2014/main" id="{A82386A6-D21A-43E1-9EB1-41B45FA5F85B}"/>
              </a:ext>
            </a:extLst>
          </p:cNvPr>
          <p:cNvSpPr>
            <a:spLocks xmlns:a="http://schemas.openxmlformats.org/drawingml/2006/main" noGrp="1"/>
          </p:cNvSpPr>
          <p:nvPr/>
        </p:nvSpPr>
        <p:spPr>
          <a:xfrm xmlns:a="http://schemas.openxmlformats.org/drawingml/2006/main">
            <a:off x="609600" y="1209675"/>
            <a:ext cx="14020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D8F578"/>
                </a:solidFill>
                <a:latin typeface="Arial"/>
                <a:ea typeface="Arial"/>
                <a:cs typeface="Arial"/>
              </a:defRPr>
            </a:pPr>
            <a:r>
              <a:rPr sz="1875" b="0">
                <a:solidFill>
                  <a:srgbClr val="D8F578"/>
                </a:solidFill>
                <a:latin typeface="Arial"/>
                <a:ea typeface="Arial"/>
                <a:cs typeface="Arial"/>
              </a:rPr>
              <a:t>Driven at the source by Product A1 (+0,8M€), volume gains dominate REGION. Net: +1,5M€.</a:t>
            </a:r>
          </a:p>
        </p:txBody>
      </p:sp>
      <p:sp>
        <p:nvSpPr>
          <p:cNvPr id="5" name="disclosure">
            <a:extLst xmlns:a="http://schemas.openxmlformats.org/drawingml/2006/main">
              <a:ext uri="{FF2B5EF4-FFF2-40B4-BE49-F238E27FC236}">
                <a16:creationId xmlns:a16="http://schemas.microsoft.com/office/drawing/2014/main" id="{D463FF85-BDDB-4FE3-AF93-836E60A2B307}"/>
              </a:ext>
            </a:extLst>
          </p:cNvPr>
          <p:cNvSpPr>
            <a:spLocks xmlns:a="http://schemas.openxmlformats.org/drawingml/2006/main" noGrp="1"/>
          </p:cNvSpPr>
          <p:nvPr/>
        </p:nvSpPr>
        <p:spPr>
          <a:xfrm xmlns:a="http://schemas.openxmlformats.org/drawingml/2006/main">
            <a:off x="609600" y="8239125"/>
            <a:ext cx="13144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54625D"/>
                </a:solidFill>
                <a:latin typeface="Arial"/>
                <a:ea typeface="Arial"/>
                <a:cs typeface="Arial"/>
              </a:defRPr>
            </a:pPr>
            <a:r>
              <a:rPr sz="1050" b="0">
                <a:solidFill>
                  <a:srgbClr val="54625D"/>
                </a:solidFill>
                <a:latin typeface="Arial"/>
                <a:ea typeface="Arial"/>
                <a:cs typeface="Arial"/>
              </a:rPr>
              <a:t>Illustrative data. Original story wording retained with substituted names and figures.</a:t>
            </a:r>
          </a:p>
        </p:txBody>
      </p:sp>
      <p:sp>
        <p:nvSpPr>
          <p:cNvPr id="6" name="page">
            <a:extLst xmlns:a="http://schemas.openxmlformats.org/drawingml/2006/main">
              <a:ext uri="{FF2B5EF4-FFF2-40B4-BE49-F238E27FC236}">
                <a16:creationId xmlns:a16="http://schemas.microsoft.com/office/drawing/2014/main" id="{CDB1651E-A02E-4EC4-A00F-75539DA4A205}"/>
              </a:ext>
            </a:extLst>
          </p:cNvPr>
          <p:cNvSpPr>
            <a:spLocks xmlns:a="http://schemas.openxmlformats.org/drawingml/2006/main" noGrp="1"/>
          </p:cNvSpPr>
          <p:nvPr/>
        </p:nvSpPr>
        <p:spPr>
          <a:xfrm xmlns:a="http://schemas.openxmlformats.org/drawingml/2006/main">
            <a:off x="14116050" y="820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1">
                <a:solidFill>
                  <a:srgbClr val="087F72"/>
                </a:solidFill>
                <a:latin typeface="Arial"/>
                <a:ea typeface="Arial"/>
                <a:cs typeface="Arial"/>
              </a:defRPr>
            </a:pPr>
            <a:r>
              <a:rPr sz="1350" b="1">
                <a:solidFill>
                  <a:srgbClr val="087F72"/>
                </a:solidFill>
                <a:latin typeface="Arial"/>
                <a:ea typeface="Arial"/>
                <a:cs typeface="Arial"/>
              </a:rPr>
              <a:t>02</a:t>
            </a:r>
          </a:p>
        </p:txBody>
      </p:sp>
      <p:sp>
        <p:nvSpPr>
          <p:cNvPr id="7" name="kpi-label-0">
            <a:extLst xmlns:a="http://schemas.openxmlformats.org/drawingml/2006/main">
              <a:ext uri="{FF2B5EF4-FFF2-40B4-BE49-F238E27FC236}">
                <a16:creationId xmlns:a16="http://schemas.microsoft.com/office/drawing/2014/main" id="{2C2C68C6-8C69-4154-97F0-78FAD9DE3ACD}"/>
              </a:ext>
            </a:extLst>
          </p:cNvPr>
          <p:cNvSpPr>
            <a:spLocks xmlns:a="http://schemas.openxmlformats.org/drawingml/2006/main" noGrp="1"/>
          </p:cNvSpPr>
          <p:nvPr/>
        </p:nvSpPr>
        <p:spPr>
          <a:xfrm xmlns:a="http://schemas.openxmlformats.org/drawingml/2006/main">
            <a:off x="609600" y="1971675"/>
            <a:ext cx="440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2.FC CM1 / k€</a:t>
            </a:r>
          </a:p>
        </p:txBody>
      </p:sp>
      <p:sp>
        <p:nvSpPr>
          <p:cNvPr id="8" name="kpi-value-0">
            <a:extLst xmlns:a="http://schemas.openxmlformats.org/drawingml/2006/main">
              <a:ext uri="{FF2B5EF4-FFF2-40B4-BE49-F238E27FC236}">
                <a16:creationId xmlns:a16="http://schemas.microsoft.com/office/drawing/2014/main" id="{3623C9D1-6B2D-484A-BEC2-AE9D8FAD5496}"/>
              </a:ext>
            </a:extLst>
          </p:cNvPr>
          <p:cNvSpPr>
            <a:spLocks xmlns:a="http://schemas.openxmlformats.org/drawingml/2006/main" noGrp="1"/>
          </p:cNvSpPr>
          <p:nvPr/>
        </p:nvSpPr>
        <p:spPr>
          <a:xfrm xmlns:a="http://schemas.openxmlformats.org/drawingml/2006/main">
            <a:off x="609600" y="2238375"/>
            <a:ext cx="440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17221F"/>
                </a:solidFill>
                <a:latin typeface="Arial"/>
                <a:ea typeface="Arial"/>
                <a:cs typeface="Arial"/>
              </a:defRPr>
            </a:pPr>
            <a:r>
              <a:rPr sz="2700" b="1">
                <a:solidFill>
                  <a:srgbClr val="17221F"/>
                </a:solidFill>
                <a:latin typeface="Arial"/>
                <a:ea typeface="Arial"/>
                <a:cs typeface="Arial"/>
              </a:rPr>
              <a:t>92,000</a:t>
            </a:r>
          </a:p>
        </p:txBody>
      </p:sp>
      <p:sp>
        <p:nvSpPr>
          <p:cNvPr id="9" name="kpi-label-1">
            <a:extLst xmlns:a="http://schemas.openxmlformats.org/drawingml/2006/main">
              <a:ext uri="{FF2B5EF4-FFF2-40B4-BE49-F238E27FC236}">
                <a16:creationId xmlns:a16="http://schemas.microsoft.com/office/drawing/2014/main" id="{D117808A-3845-4775-BAC8-1AA16B7E5C43}"/>
              </a:ext>
            </a:extLst>
          </p:cNvPr>
          <p:cNvSpPr>
            <a:spLocks xmlns:a="http://schemas.openxmlformats.org/drawingml/2006/main" noGrp="1"/>
          </p:cNvSpPr>
          <p:nvPr/>
        </p:nvSpPr>
        <p:spPr>
          <a:xfrm xmlns:a="http://schemas.openxmlformats.org/drawingml/2006/main">
            <a:off x="5283200" y="1971675"/>
            <a:ext cx="440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YTD ACT CM1 / k€</a:t>
            </a:r>
          </a:p>
        </p:txBody>
      </p:sp>
      <p:sp>
        <p:nvSpPr>
          <p:cNvPr id="10" name="kpi-value-1">
            <a:extLst xmlns:a="http://schemas.openxmlformats.org/drawingml/2006/main">
              <a:ext uri="{FF2B5EF4-FFF2-40B4-BE49-F238E27FC236}">
                <a16:creationId xmlns:a16="http://schemas.microsoft.com/office/drawing/2014/main" id="{E98BF228-A487-4609-806C-82E8D858D344}"/>
              </a:ext>
            </a:extLst>
          </p:cNvPr>
          <p:cNvSpPr>
            <a:spLocks xmlns:a="http://schemas.openxmlformats.org/drawingml/2006/main" noGrp="1"/>
          </p:cNvSpPr>
          <p:nvPr/>
        </p:nvSpPr>
        <p:spPr>
          <a:xfrm xmlns:a="http://schemas.openxmlformats.org/drawingml/2006/main">
            <a:off x="5283200" y="2238375"/>
            <a:ext cx="440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17221F"/>
                </a:solidFill>
                <a:latin typeface="Arial"/>
                <a:ea typeface="Arial"/>
                <a:cs typeface="Arial"/>
              </a:defRPr>
            </a:pPr>
            <a:r>
              <a:rPr sz="2700" b="1">
                <a:solidFill>
                  <a:srgbClr val="17221F"/>
                </a:solidFill>
                <a:latin typeface="Arial"/>
                <a:ea typeface="Arial"/>
                <a:cs typeface="Arial"/>
              </a:rPr>
              <a:t>93,500</a:t>
            </a:r>
          </a:p>
        </p:txBody>
      </p:sp>
      <p:sp>
        <p:nvSpPr>
          <p:cNvPr id="11" name="kpi-label-2">
            <a:extLst xmlns:a="http://schemas.openxmlformats.org/drawingml/2006/main">
              <a:ext uri="{FF2B5EF4-FFF2-40B4-BE49-F238E27FC236}">
                <a16:creationId xmlns:a16="http://schemas.microsoft.com/office/drawing/2014/main" id="{714AF019-CC25-439F-8E17-CDA9058F9431}"/>
              </a:ext>
            </a:extLst>
          </p:cNvPr>
          <p:cNvSpPr>
            <a:spLocks xmlns:a="http://schemas.openxmlformats.org/drawingml/2006/main" noGrp="1"/>
          </p:cNvSpPr>
          <p:nvPr/>
        </p:nvSpPr>
        <p:spPr>
          <a:xfrm xmlns:a="http://schemas.openxmlformats.org/drawingml/2006/main">
            <a:off x="9956800" y="1971675"/>
            <a:ext cx="440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ACT vs. 2.FC / k€</a:t>
            </a:r>
          </a:p>
        </p:txBody>
      </p:sp>
      <p:sp>
        <p:nvSpPr>
          <p:cNvPr id="12" name="kpi-value-2">
            <a:extLst xmlns:a="http://schemas.openxmlformats.org/drawingml/2006/main">
              <a:ext uri="{FF2B5EF4-FFF2-40B4-BE49-F238E27FC236}">
                <a16:creationId xmlns:a16="http://schemas.microsoft.com/office/drawing/2014/main" id="{76185CA8-2EA4-4729-8C11-20B575B150F8}"/>
              </a:ext>
            </a:extLst>
          </p:cNvPr>
          <p:cNvSpPr>
            <a:spLocks xmlns:a="http://schemas.openxmlformats.org/drawingml/2006/main" noGrp="1"/>
          </p:cNvSpPr>
          <p:nvPr/>
        </p:nvSpPr>
        <p:spPr>
          <a:xfrm xmlns:a="http://schemas.openxmlformats.org/drawingml/2006/main">
            <a:off x="9956800" y="2238375"/>
            <a:ext cx="440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087F72"/>
                </a:solidFill>
                <a:latin typeface="Arial"/>
                <a:ea typeface="Arial"/>
                <a:cs typeface="Arial"/>
              </a:defRPr>
            </a:pPr>
            <a:r>
              <a:rPr sz="2700" b="1">
                <a:solidFill>
                  <a:srgbClr val="087F72"/>
                </a:solidFill>
                <a:latin typeface="Arial"/>
                <a:ea typeface="Arial"/>
                <a:cs typeface="Arial"/>
              </a:rPr>
              <a:t>+1,500</a:t>
            </a:r>
          </a:p>
        </p:txBody>
      </p:sp>
      <p:sp>
        <p:nvSpPr>
          <p:cNvPr id="13" name="driver-callouts">
            <a:extLst xmlns:a="http://schemas.openxmlformats.org/drawingml/2006/main">
              <a:ext uri="{FF2B5EF4-FFF2-40B4-BE49-F238E27FC236}">
                <a16:creationId xmlns:a16="http://schemas.microsoft.com/office/drawing/2014/main" id="{899A0FBF-25B4-416A-AF39-43CE5F79FC53}"/>
              </a:ext>
            </a:extLst>
          </p:cNvPr>
          <p:cNvSpPr>
            <a:spLocks xmlns:a="http://schemas.openxmlformats.org/drawingml/2006/main" noGrp="1"/>
          </p:cNvSpPr>
          <p:nvPr/>
        </p:nvSpPr>
        <p:spPr>
          <a:xfrm xmlns:a="http://schemas.openxmlformats.org/drawingml/2006/main">
            <a:off x="609600" y="2838450"/>
            <a:ext cx="14020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72"/>
                </a:solidFill>
                <a:latin typeface="Arial"/>
                <a:ea typeface="Arial"/>
                <a:cs typeface="Arial"/>
              </a:defRPr>
            </a:pPr>
            <a:r>
              <a:rPr sz="1500" b="1">
                <a:solidFill>
                  <a:srgbClr val="087F72"/>
                </a:solidFill>
                <a:latin typeface="Arial"/>
                <a:ea typeface="Arial"/>
                <a:cs typeface="Arial"/>
              </a:rPr>
              <a:t>Drivers   Segment A +720k€     Segment E +440k€     Segment C +230k€     Segment G -220k€</a:t>
            </a:r>
          </a:p>
        </p:txBody>
      </p:sp>
      <p:graphicFrame>
        <p:nvGraphicFramePr>
          <p:cNvPr id="29" name=""/>
          <p:cNvGraphicFramePr/>
          <p:nvPr/>
        </p:nvGraphicFramePr>
        <p:xfrm>
          <a:off xmlns:a="http://schemas.openxmlformats.org/drawingml/2006/main" x="609600" y="3352800"/>
          <a:ext xmlns:a="http://schemas.openxmlformats.org/drawingml/2006/main" cx="14020800" cy="4295775"/>
        </p:xfrm>
        <a:graphic xmlns:a="http://schemas.openxmlformats.org/drawingml/2006/main">
          <a:graphicData uri="http://schemas.openxmlformats.org/drawingml/2006/table">
            <a:tbl>
              <a:tblPr firstRow="0" bandRow="0"/>
              <a:tblGrid>
                <a:gridCol w="2095500"/>
                <a:gridCol w="1490663"/>
                <a:gridCol w="1490663"/>
                <a:gridCol w="1490663"/>
                <a:gridCol w="1490663"/>
                <a:gridCol w="1490663"/>
                <a:gridCol w="1490663"/>
                <a:gridCol w="1490663"/>
                <a:gridCol w="1490663"/>
              </a:tblGrid>
              <a:tr h="390525">
                <a:tc>
                  <a:txBody>
                    <a:bodyPr lIns="95250" tIns="38100" rIns="95250" bIns="38100">
                      <a:noAutofit/>
                    </a:bodyPr>
                    <a:lstStyle/>
                    <a:p>
                      <a:pPr algn="l"/>
                      <a:r>
                        <a:rPr sz="1500" b="1">
                          <a:solidFill>
                            <a:srgbClr val="FFFFFF"/>
                          </a:solidFill>
                          <a:latin typeface="Arial"/>
                          <a:ea typeface="Arial"/>
                          <a:cs typeface="Arial"/>
                        </a:rPr>
                        <a:t>Segment</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00" b="1">
                          <a:solidFill>
                            <a:srgbClr val="FFFFFF"/>
                          </a:solidFill>
                          <a:latin typeface="Arial"/>
                          <a:ea typeface="Arial"/>
                          <a:cs typeface="Arial"/>
                        </a:rPr>
                        <a:t>CM1 2.FC</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00" b="1">
                          <a:solidFill>
                            <a:srgbClr val="FFFFFF"/>
                          </a:solidFill>
                          <a:latin typeface="Arial"/>
                          <a:ea typeface="Arial"/>
                          <a:cs typeface="Arial"/>
                        </a:rPr>
                        <a:t>CM1 ACT</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00" b="1">
                          <a:solidFill>
                            <a:srgbClr val="FFFFFF"/>
                          </a:solidFill>
                          <a:latin typeface="Arial"/>
                          <a:ea typeface="Arial"/>
                          <a:cs typeface="Arial"/>
                        </a:rPr>
                        <a:t>Δ CM1</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00" b="1">
                          <a:solidFill>
                            <a:srgbClr val="FFFFFF"/>
                          </a:solidFill>
                          <a:latin typeface="Arial"/>
                          <a:ea typeface="Arial"/>
                          <a:cs typeface="Arial"/>
                        </a:rPr>
                        <a:t>Units 2.FC</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00" b="1">
                          <a:solidFill>
                            <a:srgbClr val="FFFFFF"/>
                          </a:solidFill>
                          <a:latin typeface="Arial"/>
                          <a:ea typeface="Arial"/>
                          <a:cs typeface="Arial"/>
                        </a:rPr>
                        <a:t>Units ACT</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00" b="1">
                          <a:solidFill>
                            <a:srgbClr val="FFFFFF"/>
                          </a:solidFill>
                          <a:latin typeface="Arial"/>
                          <a:ea typeface="Arial"/>
                          <a:cs typeface="Arial"/>
                        </a:rPr>
                        <a:t>Volume</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00" b="1">
                          <a:solidFill>
                            <a:srgbClr val="FFFFFF"/>
                          </a:solidFill>
                          <a:latin typeface="Arial"/>
                          <a:ea typeface="Arial"/>
                          <a:cs typeface="Arial"/>
                        </a:rPr>
                        <a:t>Price</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00" b="1">
                          <a:solidFill>
                            <a:srgbClr val="FFFFFF"/>
                          </a:solidFill>
                          <a:latin typeface="Arial"/>
                          <a:ea typeface="Arial"/>
                          <a:cs typeface="Arial"/>
                        </a:rPr>
                        <a:t>Mix</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r>
              <a:tr h="390525">
                <a:tc>
                  <a:txBody>
                    <a:bodyPr lIns="95250" tIns="38100" rIns="95250" bIns="38100">
                      <a:noAutofit/>
                    </a:bodyPr>
                    <a:lstStyle/>
                    <a:p>
                      <a:pPr algn="l"/>
                      <a:r>
                        <a:rPr sz="1575" b="0">
                          <a:solidFill>
                            <a:srgbClr val="17221F"/>
                          </a:solidFill>
                          <a:latin typeface="Arial"/>
                          <a:ea typeface="Arial"/>
                          <a:cs typeface="Arial"/>
                        </a:rPr>
                        <a:t>Segment C</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18,400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18,630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+230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4,200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4,180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54625D"/>
                          </a:solidFill>
                          <a:latin typeface="Arial"/>
                          <a:ea typeface="Arial"/>
                          <a:cs typeface="Arial"/>
                        </a:rPr>
                        <a:t>-40</a:t>
                      </a:r>
                    </a:p>
                  </a:txBody>
                  <a:tcPr marL="91440" marR="91440" marT="45720" marB="45720" anchor="ctr">
                    <a:solidFill>
                      <a:srgbClr val="E1E6E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087F72"/>
                          </a:solidFill>
                          <a:latin typeface="Arial"/>
                          <a:ea typeface="Arial"/>
                          <a:cs typeface="Arial"/>
                        </a:rPr>
                        <a:t>+310</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54625D"/>
                          </a:solidFill>
                          <a:latin typeface="Arial"/>
                          <a:ea typeface="Arial"/>
                          <a:cs typeface="Arial"/>
                        </a:rPr>
                        <a:t>-40</a:t>
                      </a:r>
                    </a:p>
                  </a:txBody>
                  <a:tcPr marL="91440" marR="91440" marT="45720" marB="45720" anchor="ctr">
                    <a:solidFill>
                      <a:srgbClr val="E1E6E2"/>
                    </a:solidFill>
                    <a:lnL w="6350">
                      <a:solidFill>
                        <a:srgbClr val="FFFFFF"/>
                      </a:solidFill>
                    </a:lnL>
                    <a:lnR w="6350">
                      <a:solidFill>
                        <a:srgbClr val="FFFFFF"/>
                      </a:solidFill>
                    </a:lnR>
                    <a:lnT w="6350">
                      <a:solidFill>
                        <a:srgbClr val="FFFFFF"/>
                      </a:solidFill>
                    </a:lnT>
                    <a:lnB w="6350">
                      <a:solidFill>
                        <a:srgbClr val="FFFFFF"/>
                      </a:solidFill>
                    </a:lnB>
                  </a:tcPr>
                </a:tc>
              </a:tr>
              <a:tr h="390525">
                <a:tc>
                  <a:txBody>
                    <a:bodyPr lIns="95250" tIns="38100" rIns="95250" bIns="38100">
                      <a:noAutofit/>
                    </a:bodyPr>
                    <a:lstStyle/>
                    <a:p>
                      <a:pPr algn="l"/>
                      <a:r>
                        <a:rPr sz="1575" b="0">
                          <a:solidFill>
                            <a:srgbClr val="17221F"/>
                          </a:solidFill>
                          <a:latin typeface="Arial"/>
                          <a:ea typeface="Arial"/>
                          <a:cs typeface="Arial"/>
                        </a:rPr>
                        <a:t>Segment F</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4,200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4,185</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-15</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23,200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26,040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087F72"/>
                          </a:solidFill>
                          <a:latin typeface="Arial"/>
                          <a:ea typeface="Arial"/>
                          <a:cs typeface="Arial"/>
                        </a:rPr>
                        <a:t>+3,600</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54625D"/>
                          </a:solidFill>
                          <a:latin typeface="Arial"/>
                          <a:ea typeface="Arial"/>
                          <a:cs typeface="Arial"/>
                        </a:rPr>
                        <a:t>-3,630</a:t>
                      </a:r>
                    </a:p>
                  </a:txBody>
                  <a:tcPr marL="91440" marR="91440" marT="45720" marB="45720" anchor="ctr">
                    <a:solidFill>
                      <a:srgbClr val="E1E6E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087F72"/>
                          </a:solidFill>
                          <a:latin typeface="Arial"/>
                          <a:ea typeface="Arial"/>
                          <a:cs typeface="Arial"/>
                        </a:rPr>
                        <a:t>+15</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r>
              <a:tr h="390525">
                <a:tc>
                  <a:txBody>
                    <a:bodyPr lIns="95250" tIns="38100" rIns="95250" bIns="38100">
                      <a:noAutofit/>
                    </a:bodyPr>
                    <a:lstStyle/>
                    <a:p>
                      <a:pPr algn="l"/>
                      <a:r>
                        <a:rPr sz="1575" b="0">
                          <a:solidFill>
                            <a:srgbClr val="17221F"/>
                          </a:solidFill>
                          <a:latin typeface="Arial"/>
                          <a:ea typeface="Arial"/>
                          <a:cs typeface="Arial"/>
                        </a:rPr>
                        <a:t>Segment G</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580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360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-220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36,100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39,720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087F72"/>
                          </a:solidFill>
                          <a:latin typeface="Arial"/>
                          <a:ea typeface="Arial"/>
                          <a:cs typeface="Arial"/>
                        </a:rPr>
                        <a:t>+280</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54625D"/>
                          </a:solidFill>
                          <a:latin typeface="Arial"/>
                          <a:ea typeface="Arial"/>
                          <a:cs typeface="Arial"/>
                        </a:rPr>
                        <a:t>-570</a:t>
                      </a:r>
                    </a:p>
                  </a:txBody>
                  <a:tcPr marL="91440" marR="91440" marT="45720" marB="45720" anchor="ctr">
                    <a:solidFill>
                      <a:srgbClr val="E1E6E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087F72"/>
                          </a:solidFill>
                          <a:latin typeface="Arial"/>
                          <a:ea typeface="Arial"/>
                          <a:cs typeface="Arial"/>
                        </a:rPr>
                        <a:t>+70</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r>
              <a:tr h="390525">
                <a:tc>
                  <a:txBody>
                    <a:bodyPr lIns="95250" tIns="38100" rIns="95250" bIns="38100">
                      <a:noAutofit/>
                    </a:bodyPr>
                    <a:lstStyle/>
                    <a:p>
                      <a:pPr algn="l"/>
                      <a:r>
                        <a:rPr sz="1575" b="0">
                          <a:solidFill>
                            <a:srgbClr val="17221F"/>
                          </a:solidFill>
                          <a:latin typeface="Arial"/>
                          <a:ea typeface="Arial"/>
                          <a:cs typeface="Arial"/>
                        </a:rPr>
                        <a:t>Segment B</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22,600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22,780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+180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5,100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4,930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54625D"/>
                          </a:solidFill>
                          <a:latin typeface="Arial"/>
                          <a:ea typeface="Arial"/>
                          <a:cs typeface="Arial"/>
                        </a:rPr>
                        <a:t>-800</a:t>
                      </a:r>
                    </a:p>
                  </a:txBody>
                  <a:tcPr marL="91440" marR="91440" marT="45720" marB="45720" anchor="ctr">
                    <a:solidFill>
                      <a:srgbClr val="E1E6E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087F72"/>
                          </a:solidFill>
                          <a:latin typeface="Arial"/>
                          <a:ea typeface="Arial"/>
                          <a:cs typeface="Arial"/>
                        </a:rPr>
                        <a:t>+950</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087F72"/>
                          </a:solidFill>
                          <a:latin typeface="Arial"/>
                          <a:ea typeface="Arial"/>
                          <a:cs typeface="Arial"/>
                        </a:rPr>
                        <a:t>+30</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r>
              <a:tr h="390525">
                <a:tc>
                  <a:txBody>
                    <a:bodyPr lIns="95250" tIns="38100" rIns="95250" bIns="38100">
                      <a:noAutofit/>
                    </a:bodyPr>
                    <a:lstStyle/>
                    <a:p>
                      <a:pPr algn="l"/>
                      <a:r>
                        <a:rPr sz="1575" b="0">
                          <a:solidFill>
                            <a:srgbClr val="17221F"/>
                          </a:solidFill>
                          <a:latin typeface="Arial"/>
                          <a:ea typeface="Arial"/>
                          <a:cs typeface="Arial"/>
                        </a:rPr>
                        <a:t>Segment E</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4,500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4,940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+440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12,200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12,640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087F72"/>
                          </a:solidFill>
                          <a:latin typeface="Arial"/>
                          <a:ea typeface="Arial"/>
                          <a:cs typeface="Arial"/>
                        </a:rPr>
                        <a:t>+160</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087F72"/>
                          </a:solidFill>
                          <a:latin typeface="Arial"/>
                          <a:ea typeface="Arial"/>
                          <a:cs typeface="Arial"/>
                        </a:rPr>
                        <a:t>+260</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087F72"/>
                          </a:solidFill>
                          <a:latin typeface="Arial"/>
                          <a:ea typeface="Arial"/>
                          <a:cs typeface="Arial"/>
                        </a:rPr>
                        <a:t>+20</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r>
              <a:tr h="390525">
                <a:tc>
                  <a:txBody>
                    <a:bodyPr lIns="95250" tIns="38100" rIns="95250" bIns="38100">
                      <a:noAutofit/>
                    </a:bodyPr>
                    <a:lstStyle/>
                    <a:p>
                      <a:pPr algn="l"/>
                      <a:r>
                        <a:rPr sz="1575" b="0">
                          <a:solidFill>
                            <a:srgbClr val="17221F"/>
                          </a:solidFill>
                          <a:latin typeface="Arial"/>
                          <a:ea typeface="Arial"/>
                          <a:cs typeface="Arial"/>
                        </a:rPr>
                        <a:t>Segment A</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31,500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32,220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+720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20,400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20,210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54625D"/>
                          </a:solidFill>
                          <a:latin typeface="Arial"/>
                          <a:ea typeface="Arial"/>
                          <a:cs typeface="Arial"/>
                        </a:rPr>
                        <a:t>-210</a:t>
                      </a:r>
                    </a:p>
                  </a:txBody>
                  <a:tcPr marL="91440" marR="91440" marT="45720" marB="45720" anchor="ctr">
                    <a:solidFill>
                      <a:srgbClr val="E1E6E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087F72"/>
                          </a:solidFill>
                          <a:latin typeface="Arial"/>
                          <a:ea typeface="Arial"/>
                          <a:cs typeface="Arial"/>
                        </a:rPr>
                        <a:t>+1,050</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54625D"/>
                          </a:solidFill>
                          <a:latin typeface="Arial"/>
                          <a:ea typeface="Arial"/>
                          <a:cs typeface="Arial"/>
                        </a:rPr>
                        <a:t>-120</a:t>
                      </a:r>
                    </a:p>
                  </a:txBody>
                  <a:tcPr marL="91440" marR="91440" marT="45720" marB="45720" anchor="ctr">
                    <a:solidFill>
                      <a:srgbClr val="E1E6E2"/>
                    </a:solidFill>
                    <a:lnL w="6350">
                      <a:solidFill>
                        <a:srgbClr val="FFFFFF"/>
                      </a:solidFill>
                    </a:lnL>
                    <a:lnR w="6350">
                      <a:solidFill>
                        <a:srgbClr val="FFFFFF"/>
                      </a:solidFill>
                    </a:lnR>
                    <a:lnT w="6350">
                      <a:solidFill>
                        <a:srgbClr val="FFFFFF"/>
                      </a:solidFill>
                    </a:lnT>
                    <a:lnB w="6350">
                      <a:solidFill>
                        <a:srgbClr val="FFFFFF"/>
                      </a:solidFill>
                    </a:lnB>
                  </a:tcPr>
                </a:tc>
              </a:tr>
              <a:tr h="390525">
                <a:tc>
                  <a:txBody>
                    <a:bodyPr lIns="95250" tIns="38100" rIns="95250" bIns="38100">
                      <a:noAutofit/>
                    </a:bodyPr>
                    <a:lstStyle/>
                    <a:p>
                      <a:pPr algn="l"/>
                      <a:r>
                        <a:rPr sz="1575" b="0">
                          <a:solidFill>
                            <a:srgbClr val="17221F"/>
                          </a:solidFill>
                          <a:latin typeface="Arial"/>
                          <a:ea typeface="Arial"/>
                          <a:cs typeface="Arial"/>
                        </a:rPr>
                        <a:t>Segment H</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130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95</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-35</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2,800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3,100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087F72"/>
                          </a:solidFill>
                          <a:latin typeface="Arial"/>
                          <a:ea typeface="Arial"/>
                          <a:cs typeface="Arial"/>
                        </a:rPr>
                        <a:t>+20</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54625D"/>
                          </a:solidFill>
                          <a:latin typeface="Arial"/>
                          <a:ea typeface="Arial"/>
                          <a:cs typeface="Arial"/>
                        </a:rPr>
                        <a:t>-110</a:t>
                      </a:r>
                    </a:p>
                  </a:txBody>
                  <a:tcPr marL="91440" marR="91440" marT="45720" marB="45720" anchor="ctr">
                    <a:solidFill>
                      <a:srgbClr val="E1E6E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087F72"/>
                          </a:solidFill>
                          <a:latin typeface="Arial"/>
                          <a:ea typeface="Arial"/>
                          <a:cs typeface="Arial"/>
                        </a:rPr>
                        <a:t>+55</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r>
              <a:tr h="390525">
                <a:tc>
                  <a:txBody>
                    <a:bodyPr lIns="95250" tIns="38100" rIns="95250" bIns="38100">
                      <a:noAutofit/>
                    </a:bodyPr>
                    <a:lstStyle/>
                    <a:p>
                      <a:pPr algn="l"/>
                      <a:r>
                        <a:rPr sz="1575" b="0">
                          <a:solidFill>
                            <a:srgbClr val="17221F"/>
                          </a:solidFill>
                          <a:latin typeface="Arial"/>
                          <a:ea typeface="Arial"/>
                          <a:cs typeface="Arial"/>
                        </a:rPr>
                        <a:t>Segment D</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7,100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7,140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+40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47,600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47,020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54625D"/>
                          </a:solidFill>
                          <a:latin typeface="Arial"/>
                          <a:ea typeface="Arial"/>
                          <a:cs typeface="Arial"/>
                        </a:rPr>
                        <a:t>-90</a:t>
                      </a:r>
                    </a:p>
                  </a:txBody>
                  <a:tcPr marL="91440" marR="91440" marT="45720" marB="45720" anchor="ctr">
                    <a:solidFill>
                      <a:srgbClr val="E1E6E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087F72"/>
                          </a:solidFill>
                          <a:latin typeface="Arial"/>
                          <a:ea typeface="Arial"/>
                          <a:cs typeface="Arial"/>
                        </a:rPr>
                        <a:t>+170</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54625D"/>
                          </a:solidFill>
                          <a:latin typeface="Arial"/>
                          <a:ea typeface="Arial"/>
                          <a:cs typeface="Arial"/>
                        </a:rPr>
                        <a:t>-40</a:t>
                      </a:r>
                    </a:p>
                  </a:txBody>
                  <a:tcPr marL="91440" marR="91440" marT="45720" marB="45720" anchor="ctr">
                    <a:solidFill>
                      <a:srgbClr val="E1E6E2"/>
                    </a:solidFill>
                    <a:lnL w="6350">
                      <a:solidFill>
                        <a:srgbClr val="FFFFFF"/>
                      </a:solidFill>
                    </a:lnL>
                    <a:lnR w="6350">
                      <a:solidFill>
                        <a:srgbClr val="FFFFFF"/>
                      </a:solidFill>
                    </a:lnR>
                    <a:lnT w="6350">
                      <a:solidFill>
                        <a:srgbClr val="FFFFFF"/>
                      </a:solidFill>
                    </a:lnT>
                    <a:lnB w="6350">
                      <a:solidFill>
                        <a:srgbClr val="FFFFFF"/>
                      </a:solidFill>
                    </a:lnB>
                  </a:tcPr>
                </a:tc>
              </a:tr>
              <a:tr h="390525">
                <a:tc>
                  <a:txBody>
                    <a:bodyPr lIns="95250" tIns="38100" rIns="95250" bIns="38100">
                      <a:noAutofit/>
                    </a:bodyPr>
                    <a:lstStyle/>
                    <a:p>
                      <a:pPr algn="l"/>
                      <a:r>
                        <a:rPr sz="1575" b="0">
                          <a:solidFill>
                            <a:srgbClr val="17221F"/>
                          </a:solidFill>
                          <a:latin typeface="Arial"/>
                          <a:ea typeface="Arial"/>
                          <a:cs typeface="Arial"/>
                        </a:rPr>
                        <a:t>Other / recon.</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2,990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3,150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+160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48,200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17221F"/>
                          </a:solidFill>
                          <a:latin typeface="Arial"/>
                          <a:ea typeface="Arial"/>
                          <a:cs typeface="Arial"/>
                        </a:rPr>
                        <a:t>66,860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087F72"/>
                          </a:solidFill>
                          <a:latin typeface="Arial"/>
                          <a:ea typeface="Arial"/>
                          <a:cs typeface="Arial"/>
                        </a:rPr>
                        <a:t>+420</a:t>
                      </a:r>
                    </a:p>
                  </a:txBody>
                  <a:tcPr marL="91440" marR="91440" marT="45720" marB="45720" anchor="ctr">
                    <a:solidFill>
                      <a:srgbClr val="D9EDE4"/>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54625D"/>
                          </a:solidFill>
                          <a:latin typeface="Arial"/>
                          <a:ea typeface="Arial"/>
                          <a:cs typeface="Arial"/>
                        </a:rPr>
                        <a:t>-60</a:t>
                      </a:r>
                    </a:p>
                  </a:txBody>
                  <a:tcPr marL="91440" marR="91440" marT="45720" marB="45720" anchor="ctr">
                    <a:solidFill>
                      <a:srgbClr val="E1E6E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0">
                          <a:solidFill>
                            <a:srgbClr val="54625D"/>
                          </a:solidFill>
                          <a:latin typeface="Arial"/>
                          <a:ea typeface="Arial"/>
                          <a:cs typeface="Arial"/>
                        </a:rPr>
                        <a:t>-200</a:t>
                      </a:r>
                    </a:p>
                  </a:txBody>
                  <a:tcPr marL="91440" marR="91440" marT="45720" marB="45720" anchor="ctr">
                    <a:solidFill>
                      <a:srgbClr val="E1E6E2"/>
                    </a:solidFill>
                    <a:lnL w="6350">
                      <a:solidFill>
                        <a:srgbClr val="FFFFFF"/>
                      </a:solidFill>
                    </a:lnL>
                    <a:lnR w="6350">
                      <a:solidFill>
                        <a:srgbClr val="FFFFFF"/>
                      </a:solidFill>
                    </a:lnR>
                    <a:lnT w="6350">
                      <a:solidFill>
                        <a:srgbClr val="FFFFFF"/>
                      </a:solidFill>
                    </a:lnT>
                    <a:lnB w="6350">
                      <a:solidFill>
                        <a:srgbClr val="FFFFFF"/>
                      </a:solidFill>
                    </a:lnB>
                  </a:tcPr>
                </a:tc>
              </a:tr>
              <a:tr h="390525">
                <a:tc>
                  <a:txBody>
                    <a:bodyPr lIns="95250" tIns="38100" rIns="95250" bIns="38100">
                      <a:noAutofit/>
                    </a:bodyPr>
                    <a:lstStyle/>
                    <a:p>
                      <a:pPr algn="l"/>
                      <a:r>
                        <a:rPr sz="1575" b="1">
                          <a:solidFill>
                            <a:srgbClr val="FFFFFF"/>
                          </a:solidFill>
                          <a:latin typeface="Arial"/>
                          <a:ea typeface="Arial"/>
                          <a:cs typeface="Arial"/>
                        </a:rPr>
                        <a:t>Total effect</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FFFFFF"/>
                          </a:solidFill>
                          <a:latin typeface="Arial"/>
                          <a:ea typeface="Arial"/>
                          <a:cs typeface="Arial"/>
                        </a:rPr>
                        <a:t>92,000</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FFFFFF"/>
                          </a:solidFill>
                          <a:latin typeface="Arial"/>
                          <a:ea typeface="Arial"/>
                          <a:cs typeface="Arial"/>
                        </a:rPr>
                        <a:t>93,500</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FFFFFF"/>
                          </a:solidFill>
                          <a:latin typeface="Arial"/>
                          <a:ea typeface="Arial"/>
                          <a:cs typeface="Arial"/>
                        </a:rPr>
                        <a:t>+1,500</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FFFFFF"/>
                          </a:solidFill>
                          <a:latin typeface="Arial"/>
                          <a:ea typeface="Arial"/>
                          <a:cs typeface="Arial"/>
                        </a:rPr>
                        <a:t>199,800</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FFFFFF"/>
                          </a:solidFill>
                          <a:latin typeface="Arial"/>
                          <a:ea typeface="Arial"/>
                          <a:cs typeface="Arial"/>
                        </a:rPr>
                        <a:t>224,700</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FFFFFF"/>
                          </a:solidFill>
                          <a:latin typeface="Arial"/>
                          <a:ea typeface="Arial"/>
                          <a:cs typeface="Arial"/>
                        </a:rPr>
                        <a:t>+3,340</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FFFFFF"/>
                          </a:solidFill>
                          <a:latin typeface="Arial"/>
                          <a:ea typeface="Arial"/>
                          <a:cs typeface="Arial"/>
                        </a:rPr>
                        <a:t>-1,630</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575" b="1">
                          <a:solidFill>
                            <a:srgbClr val="FFFFFF"/>
                          </a:solidFill>
                          <a:latin typeface="Arial"/>
                          <a:ea typeface="Arial"/>
                          <a:cs typeface="Arial"/>
                        </a:rPr>
                        <a:t>-210</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15" name="units">
            <a:extLst xmlns:a="http://schemas.openxmlformats.org/drawingml/2006/main">
              <a:ext uri="{FF2B5EF4-FFF2-40B4-BE49-F238E27FC236}">
                <a16:creationId xmlns:a16="http://schemas.microsoft.com/office/drawing/2014/main" id="{D06EB165-AC0C-46D9-ABDF-4DB802BFCC3B}"/>
              </a:ext>
            </a:extLst>
          </p:cNvPr>
          <p:cNvSpPr>
            <a:spLocks xmlns:a="http://schemas.openxmlformats.org/drawingml/2006/main" noGrp="1"/>
          </p:cNvSpPr>
          <p:nvPr/>
        </p:nvSpPr>
        <p:spPr>
          <a:xfrm xmlns:a="http://schemas.openxmlformats.org/drawingml/2006/main">
            <a:off x="609600" y="7791450"/>
            <a:ext cx="14020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4625D"/>
                </a:solidFill>
                <a:latin typeface="Arial"/>
                <a:ea typeface="Arial"/>
                <a:cs typeface="Arial"/>
              </a:defRPr>
            </a:pPr>
            <a:r>
              <a:rPr sz="1275" b="0">
                <a:solidFill>
                  <a:srgbClr val="54625D"/>
                </a:solidFill>
                <a:latin typeface="Arial"/>
                <a:ea typeface="Arial"/>
                <a:cs typeface="Arial"/>
              </a:rPr>
              <a:t>CM1, volume, price and residual mix effects in k€. Unit columns show counts.</a:t>
            </a:r>
          </a:p>
        </p:txBody>
      </p:sp>
    </p:spTree>
    <p:extLst>
      <p:ext uri="{BB962C8B-B14F-4D97-AF65-F5344CB8AC3E}">
        <p14:creationId xmlns:p14="http://schemas.microsoft.com/office/powerpoint/2010/main" val="518793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header">
            <a:extLst xmlns:a="http://schemas.openxmlformats.org/drawingml/2006/main">
              <a:ext uri="{FF2B5EF4-FFF2-40B4-BE49-F238E27FC236}">
                <a16:creationId xmlns:a16="http://schemas.microsoft.com/office/drawing/2014/main" id="{E5848781-3A83-496C-8990-651E264075A1}"/>
              </a:ext>
            </a:extLst>
          </p:cNvPr>
          <p:cNvSpPr>
            <a:spLocks xmlns:a="http://schemas.openxmlformats.org/drawingml/2006/main" noGrp="1"/>
          </p:cNvSpPr>
          <p:nvPr/>
        </p:nvSpPr>
        <p:spPr>
          <a:xfrm xmlns:a="http://schemas.openxmlformats.org/drawingml/2006/main">
            <a:off x="0" y="0"/>
            <a:ext cx="15240000" cy="1743075"/>
          </a:xfrm>
          <a:prstGeom xmlns:a="http://schemas.openxmlformats.org/drawingml/2006/main" prst="rect">
            <a:avLst/>
          </a:prstGeom>
          <a:solidFill xmlns:a="http://schemas.openxmlformats.org/drawingml/2006/main">
            <a:srgbClr val="17221F"/>
          </a:solidFill>
          <a:ln xmlns:a="http://schemas.openxmlformats.org/drawingml/2006/main" w="0">
            <a:noFill/>
          </a:ln>
        </p:spPr>
      </p:sp>
      <p:sp>
        <p:nvSpPr>
          <p:cNvPr id="2" name="eyebrow">
            <a:extLst xmlns:a="http://schemas.openxmlformats.org/drawingml/2006/main">
              <a:ext uri="{FF2B5EF4-FFF2-40B4-BE49-F238E27FC236}">
                <a16:creationId xmlns:a16="http://schemas.microsoft.com/office/drawing/2014/main" id="{1597D2FD-761E-4029-AE72-9921DB147046}"/>
              </a:ext>
            </a:extLst>
          </p:cNvPr>
          <p:cNvSpPr>
            <a:spLocks xmlns:a="http://schemas.openxmlformats.org/drawingml/2006/main" noGrp="1"/>
          </p:cNvSpPr>
          <p:nvPr/>
        </p:nvSpPr>
        <p:spPr>
          <a:xfrm xmlns:a="http://schemas.openxmlformats.org/drawingml/2006/main">
            <a:off x="609600" y="2571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D8F578"/>
                </a:solidFill>
                <a:latin typeface="Arial"/>
                <a:ea typeface="Arial"/>
                <a:cs typeface="Arial"/>
              </a:defRPr>
            </a:pPr>
            <a:r>
              <a:rPr sz="1200" b="1">
                <a:solidFill>
                  <a:srgbClr val="D8F578"/>
                </a:solidFill>
                <a:latin typeface="Arial"/>
                <a:ea typeface="Arial"/>
                <a:cs typeface="Arial"/>
              </a:rPr>
              <a:t>CM1 BRIDGE  /  REGIONAL OVERVIEW</a:t>
            </a:r>
          </a:p>
        </p:txBody>
      </p:sp>
      <p:sp>
        <p:nvSpPr>
          <p:cNvPr id="3" name="title">
            <a:extLst xmlns:a="http://schemas.openxmlformats.org/drawingml/2006/main">
              <a:ext uri="{FF2B5EF4-FFF2-40B4-BE49-F238E27FC236}">
                <a16:creationId xmlns:a16="http://schemas.microsoft.com/office/drawing/2014/main" id="{333F80EF-E584-49CB-8081-F2D093B91368}"/>
              </a:ext>
            </a:extLst>
          </p:cNvPr>
          <p:cNvSpPr>
            <a:spLocks xmlns:a="http://schemas.openxmlformats.org/drawingml/2006/main" noGrp="1"/>
          </p:cNvSpPr>
          <p:nvPr/>
        </p:nvSpPr>
        <p:spPr>
          <a:xfrm xmlns:a="http://schemas.openxmlformats.org/drawingml/2006/main">
            <a:off x="609600" y="609600"/>
            <a:ext cx="1402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Regional management commentary</a:t>
            </a:r>
          </a:p>
        </p:txBody>
      </p:sp>
      <p:sp>
        <p:nvSpPr>
          <p:cNvPr id="4" name="machine-subtitle">
            <a:extLst xmlns:a="http://schemas.openxmlformats.org/drawingml/2006/main">
              <a:ext uri="{FF2B5EF4-FFF2-40B4-BE49-F238E27FC236}">
                <a16:creationId xmlns:a16="http://schemas.microsoft.com/office/drawing/2014/main" id="{5B0CD614-B1F9-48B5-A118-173905774189}"/>
              </a:ext>
            </a:extLst>
          </p:cNvPr>
          <p:cNvSpPr>
            <a:spLocks xmlns:a="http://schemas.openxmlformats.org/drawingml/2006/main" noGrp="1"/>
          </p:cNvSpPr>
          <p:nvPr/>
        </p:nvSpPr>
        <p:spPr>
          <a:xfrm xmlns:a="http://schemas.openxmlformats.org/drawingml/2006/main">
            <a:off x="609600" y="1209675"/>
            <a:ext cx="14020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D8F578"/>
                </a:solidFill>
                <a:latin typeface="Arial"/>
                <a:ea typeface="Arial"/>
                <a:cs typeface="Arial"/>
              </a:defRPr>
            </a:pPr>
            <a:r>
              <a:rPr sz="1875" b="0">
                <a:solidFill>
                  <a:srgbClr val="D8F578"/>
                </a:solidFill>
                <a:latin typeface="Arial"/>
                <a:ea typeface="Arial"/>
                <a:cs typeface="Arial"/>
              </a:rPr>
              <a:t>Driven at the source by Product A1 (+0,8M€), volume gains dominate REGION. Net: +1,5M€.</a:t>
            </a:r>
          </a:p>
        </p:txBody>
      </p:sp>
      <p:sp>
        <p:nvSpPr>
          <p:cNvPr id="5" name="disclosure">
            <a:extLst xmlns:a="http://schemas.openxmlformats.org/drawingml/2006/main">
              <a:ext uri="{FF2B5EF4-FFF2-40B4-BE49-F238E27FC236}">
                <a16:creationId xmlns:a16="http://schemas.microsoft.com/office/drawing/2014/main" id="{C97DECDD-49A5-4086-9E47-CCA8B81B6F53}"/>
              </a:ext>
            </a:extLst>
          </p:cNvPr>
          <p:cNvSpPr>
            <a:spLocks xmlns:a="http://schemas.openxmlformats.org/drawingml/2006/main" noGrp="1"/>
          </p:cNvSpPr>
          <p:nvPr/>
        </p:nvSpPr>
        <p:spPr>
          <a:xfrm xmlns:a="http://schemas.openxmlformats.org/drawingml/2006/main">
            <a:off x="609600" y="8239125"/>
            <a:ext cx="13144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54625D"/>
                </a:solidFill>
                <a:latin typeface="Arial"/>
                <a:ea typeface="Arial"/>
                <a:cs typeface="Arial"/>
              </a:defRPr>
            </a:pPr>
            <a:r>
              <a:rPr sz="1050" b="0">
                <a:solidFill>
                  <a:srgbClr val="54625D"/>
                </a:solidFill>
                <a:latin typeface="Arial"/>
                <a:ea typeface="Arial"/>
                <a:cs typeface="Arial"/>
              </a:rPr>
              <a:t>Illustrative data. Original story wording retained with substituted names and figures.</a:t>
            </a:r>
          </a:p>
        </p:txBody>
      </p:sp>
      <p:sp>
        <p:nvSpPr>
          <p:cNvPr id="6" name="page">
            <a:extLst xmlns:a="http://schemas.openxmlformats.org/drawingml/2006/main">
              <a:ext uri="{FF2B5EF4-FFF2-40B4-BE49-F238E27FC236}">
                <a16:creationId xmlns:a16="http://schemas.microsoft.com/office/drawing/2014/main" id="{340F8D2F-E934-4DCA-BEEA-FC4B185B923C}"/>
              </a:ext>
            </a:extLst>
          </p:cNvPr>
          <p:cNvSpPr>
            <a:spLocks xmlns:a="http://schemas.openxmlformats.org/drawingml/2006/main" noGrp="1"/>
          </p:cNvSpPr>
          <p:nvPr/>
        </p:nvSpPr>
        <p:spPr>
          <a:xfrm xmlns:a="http://schemas.openxmlformats.org/drawingml/2006/main">
            <a:off x="14116050" y="820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1">
                <a:solidFill>
                  <a:srgbClr val="087F72"/>
                </a:solidFill>
                <a:latin typeface="Arial"/>
                <a:ea typeface="Arial"/>
                <a:cs typeface="Arial"/>
              </a:defRPr>
            </a:pPr>
            <a:r>
              <a:rPr sz="1350" b="1">
                <a:solidFill>
                  <a:srgbClr val="087F72"/>
                </a:solidFill>
                <a:latin typeface="Arial"/>
                <a:ea typeface="Arial"/>
                <a:cs typeface="Arial"/>
              </a:rPr>
              <a:t>03</a:t>
            </a:r>
          </a:p>
        </p:txBody>
      </p:sp>
      <p:sp>
        <p:nvSpPr>
          <p:cNvPr id="7" name="kpi-label-0">
            <a:extLst xmlns:a="http://schemas.openxmlformats.org/drawingml/2006/main">
              <a:ext uri="{FF2B5EF4-FFF2-40B4-BE49-F238E27FC236}">
                <a16:creationId xmlns:a16="http://schemas.microsoft.com/office/drawing/2014/main" id="{C0EA5F60-B6D5-40FB-A6E7-B7911DA4EB64}"/>
              </a:ext>
            </a:extLst>
          </p:cNvPr>
          <p:cNvSpPr>
            <a:spLocks xmlns:a="http://schemas.openxmlformats.org/drawingml/2006/main" noGrp="1"/>
          </p:cNvSpPr>
          <p:nvPr/>
        </p:nvSpPr>
        <p:spPr>
          <a:xfrm xmlns:a="http://schemas.openxmlformats.org/drawingml/2006/main">
            <a:off x="609600" y="1971675"/>
            <a:ext cx="440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2.FC CM1 / k€</a:t>
            </a:r>
          </a:p>
        </p:txBody>
      </p:sp>
      <p:sp>
        <p:nvSpPr>
          <p:cNvPr id="8" name="kpi-value-0">
            <a:extLst xmlns:a="http://schemas.openxmlformats.org/drawingml/2006/main">
              <a:ext uri="{FF2B5EF4-FFF2-40B4-BE49-F238E27FC236}">
                <a16:creationId xmlns:a16="http://schemas.microsoft.com/office/drawing/2014/main" id="{E842D780-7989-4197-85BD-F1EB242643AB}"/>
              </a:ext>
            </a:extLst>
          </p:cNvPr>
          <p:cNvSpPr>
            <a:spLocks xmlns:a="http://schemas.openxmlformats.org/drawingml/2006/main" noGrp="1"/>
          </p:cNvSpPr>
          <p:nvPr/>
        </p:nvSpPr>
        <p:spPr>
          <a:xfrm xmlns:a="http://schemas.openxmlformats.org/drawingml/2006/main">
            <a:off x="609600" y="2238375"/>
            <a:ext cx="440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17221F"/>
                </a:solidFill>
                <a:latin typeface="Arial"/>
                <a:ea typeface="Arial"/>
                <a:cs typeface="Arial"/>
              </a:defRPr>
            </a:pPr>
            <a:r>
              <a:rPr sz="2700" b="1">
                <a:solidFill>
                  <a:srgbClr val="17221F"/>
                </a:solidFill>
                <a:latin typeface="Arial"/>
                <a:ea typeface="Arial"/>
                <a:cs typeface="Arial"/>
              </a:rPr>
              <a:t>92,000</a:t>
            </a:r>
          </a:p>
        </p:txBody>
      </p:sp>
      <p:sp>
        <p:nvSpPr>
          <p:cNvPr id="9" name="kpi-label-1">
            <a:extLst xmlns:a="http://schemas.openxmlformats.org/drawingml/2006/main">
              <a:ext uri="{FF2B5EF4-FFF2-40B4-BE49-F238E27FC236}">
                <a16:creationId xmlns:a16="http://schemas.microsoft.com/office/drawing/2014/main" id="{B7D5B411-DBE0-43CF-8602-AF4419BDC8FE}"/>
              </a:ext>
            </a:extLst>
          </p:cNvPr>
          <p:cNvSpPr>
            <a:spLocks xmlns:a="http://schemas.openxmlformats.org/drawingml/2006/main" noGrp="1"/>
          </p:cNvSpPr>
          <p:nvPr/>
        </p:nvSpPr>
        <p:spPr>
          <a:xfrm xmlns:a="http://schemas.openxmlformats.org/drawingml/2006/main">
            <a:off x="5283200" y="1971675"/>
            <a:ext cx="440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YTD ACT CM1 / k€</a:t>
            </a:r>
          </a:p>
        </p:txBody>
      </p:sp>
      <p:sp>
        <p:nvSpPr>
          <p:cNvPr id="10" name="kpi-value-1">
            <a:extLst xmlns:a="http://schemas.openxmlformats.org/drawingml/2006/main">
              <a:ext uri="{FF2B5EF4-FFF2-40B4-BE49-F238E27FC236}">
                <a16:creationId xmlns:a16="http://schemas.microsoft.com/office/drawing/2014/main" id="{FC80D51F-98C4-4775-BAF1-BE07AA488B55}"/>
              </a:ext>
            </a:extLst>
          </p:cNvPr>
          <p:cNvSpPr>
            <a:spLocks xmlns:a="http://schemas.openxmlformats.org/drawingml/2006/main" noGrp="1"/>
          </p:cNvSpPr>
          <p:nvPr/>
        </p:nvSpPr>
        <p:spPr>
          <a:xfrm xmlns:a="http://schemas.openxmlformats.org/drawingml/2006/main">
            <a:off x="5283200" y="2238375"/>
            <a:ext cx="440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17221F"/>
                </a:solidFill>
                <a:latin typeface="Arial"/>
                <a:ea typeface="Arial"/>
                <a:cs typeface="Arial"/>
              </a:defRPr>
            </a:pPr>
            <a:r>
              <a:rPr sz="2700" b="1">
                <a:solidFill>
                  <a:srgbClr val="17221F"/>
                </a:solidFill>
                <a:latin typeface="Arial"/>
                <a:ea typeface="Arial"/>
                <a:cs typeface="Arial"/>
              </a:rPr>
              <a:t>93,500</a:t>
            </a:r>
          </a:p>
        </p:txBody>
      </p:sp>
      <p:sp>
        <p:nvSpPr>
          <p:cNvPr id="11" name="kpi-label-2">
            <a:extLst xmlns:a="http://schemas.openxmlformats.org/drawingml/2006/main">
              <a:ext uri="{FF2B5EF4-FFF2-40B4-BE49-F238E27FC236}">
                <a16:creationId xmlns:a16="http://schemas.microsoft.com/office/drawing/2014/main" id="{162EC9B0-0C26-4D01-B22D-887D2BA18CBD}"/>
              </a:ext>
            </a:extLst>
          </p:cNvPr>
          <p:cNvSpPr>
            <a:spLocks xmlns:a="http://schemas.openxmlformats.org/drawingml/2006/main" noGrp="1"/>
          </p:cNvSpPr>
          <p:nvPr/>
        </p:nvSpPr>
        <p:spPr>
          <a:xfrm xmlns:a="http://schemas.openxmlformats.org/drawingml/2006/main">
            <a:off x="9956800" y="1971675"/>
            <a:ext cx="440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ACT vs. 2.FC / k€</a:t>
            </a:r>
          </a:p>
        </p:txBody>
      </p:sp>
      <p:sp>
        <p:nvSpPr>
          <p:cNvPr id="12" name="kpi-value-2">
            <a:extLst xmlns:a="http://schemas.openxmlformats.org/drawingml/2006/main">
              <a:ext uri="{FF2B5EF4-FFF2-40B4-BE49-F238E27FC236}">
                <a16:creationId xmlns:a16="http://schemas.microsoft.com/office/drawing/2014/main" id="{2135886F-0777-4AD3-B763-8B33F489EC8C}"/>
              </a:ext>
            </a:extLst>
          </p:cNvPr>
          <p:cNvSpPr>
            <a:spLocks xmlns:a="http://schemas.openxmlformats.org/drawingml/2006/main" noGrp="1"/>
          </p:cNvSpPr>
          <p:nvPr/>
        </p:nvSpPr>
        <p:spPr>
          <a:xfrm xmlns:a="http://schemas.openxmlformats.org/drawingml/2006/main">
            <a:off x="9956800" y="2238375"/>
            <a:ext cx="440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087F72"/>
                </a:solidFill>
                <a:latin typeface="Arial"/>
                <a:ea typeface="Arial"/>
                <a:cs typeface="Arial"/>
              </a:defRPr>
            </a:pPr>
            <a:r>
              <a:rPr sz="2700" b="1">
                <a:solidFill>
                  <a:srgbClr val="087F72"/>
                </a:solidFill>
                <a:latin typeface="Arial"/>
                <a:ea typeface="Arial"/>
                <a:cs typeface="Arial"/>
              </a:rPr>
              <a:t>+1,500</a:t>
            </a:r>
          </a:p>
        </p:txBody>
      </p:sp>
      <p:sp>
        <p:nvSpPr>
          <p:cNvPr id="13" name="driver-callouts">
            <a:extLst xmlns:a="http://schemas.openxmlformats.org/drawingml/2006/main">
              <a:ext uri="{FF2B5EF4-FFF2-40B4-BE49-F238E27FC236}">
                <a16:creationId xmlns:a16="http://schemas.microsoft.com/office/drawing/2014/main" id="{16FA7E51-669D-4094-A453-61389A50A0FD}"/>
              </a:ext>
            </a:extLst>
          </p:cNvPr>
          <p:cNvSpPr>
            <a:spLocks xmlns:a="http://schemas.openxmlformats.org/drawingml/2006/main" noGrp="1"/>
          </p:cNvSpPr>
          <p:nvPr/>
        </p:nvSpPr>
        <p:spPr>
          <a:xfrm xmlns:a="http://schemas.openxmlformats.org/drawingml/2006/main">
            <a:off x="609600" y="2838450"/>
            <a:ext cx="14020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72"/>
                </a:solidFill>
                <a:latin typeface="Arial"/>
                <a:ea typeface="Arial"/>
                <a:cs typeface="Arial"/>
              </a:defRPr>
            </a:pPr>
            <a:r>
              <a:rPr sz="1500" b="1">
                <a:solidFill>
                  <a:srgbClr val="087F72"/>
                </a:solidFill>
                <a:latin typeface="Arial"/>
                <a:ea typeface="Arial"/>
                <a:cs typeface="Arial"/>
              </a:rPr>
              <a:t>Drivers   Segment A +720k€     Segment E +440k€     Segment C +230k€     Segment G -220k€</a:t>
            </a:r>
          </a:p>
        </p:txBody>
      </p:sp>
      <p:sp>
        <p:nvSpPr>
          <p:cNvPr id="14" name="upsides-heading">
            <a:extLst xmlns:a="http://schemas.openxmlformats.org/drawingml/2006/main">
              <a:ext uri="{FF2B5EF4-FFF2-40B4-BE49-F238E27FC236}">
                <a16:creationId xmlns:a16="http://schemas.microsoft.com/office/drawing/2014/main" id="{981EAE18-9DB2-49F3-B252-1A301ECBA12B}"/>
              </a:ext>
            </a:extLst>
          </p:cNvPr>
          <p:cNvSpPr>
            <a:spLocks xmlns:a="http://schemas.openxmlformats.org/drawingml/2006/main" noGrp="1"/>
          </p:cNvSpPr>
          <p:nvPr/>
        </p:nvSpPr>
        <p:spPr>
          <a:xfrm xmlns:a="http://schemas.openxmlformats.org/drawingml/2006/main">
            <a:off x="609600" y="3495675"/>
            <a:ext cx="681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087F72"/>
                </a:solidFill>
                <a:latin typeface="Arial"/>
                <a:ea typeface="Arial"/>
                <a:cs typeface="Arial"/>
              </a:defRPr>
            </a:pPr>
            <a:r>
              <a:rPr sz="2250" b="1">
                <a:solidFill>
                  <a:srgbClr val="087F72"/>
                </a:solidFill>
                <a:latin typeface="Arial"/>
                <a:ea typeface="Arial"/>
                <a:cs typeface="Arial"/>
              </a:rPr>
              <a:t>Upsides</a:t>
            </a:r>
          </a:p>
        </p:txBody>
      </p:sp>
      <p:sp>
        <p:nvSpPr>
          <p:cNvPr id="15" name="challenges-heading">
            <a:extLst xmlns:a="http://schemas.openxmlformats.org/drawingml/2006/main">
              <a:ext uri="{FF2B5EF4-FFF2-40B4-BE49-F238E27FC236}">
                <a16:creationId xmlns:a16="http://schemas.microsoft.com/office/drawing/2014/main" id="{13546677-D227-4D56-A79D-BD56509874AD}"/>
              </a:ext>
            </a:extLst>
          </p:cNvPr>
          <p:cNvSpPr>
            <a:spLocks xmlns:a="http://schemas.openxmlformats.org/drawingml/2006/main" noGrp="1"/>
          </p:cNvSpPr>
          <p:nvPr/>
        </p:nvSpPr>
        <p:spPr>
          <a:xfrm xmlns:a="http://schemas.openxmlformats.org/drawingml/2006/main">
            <a:off x="8239125" y="3495675"/>
            <a:ext cx="6391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17221F"/>
                </a:solidFill>
                <a:latin typeface="Arial"/>
                <a:ea typeface="Arial"/>
                <a:cs typeface="Arial"/>
              </a:defRPr>
            </a:pPr>
            <a:r>
              <a:rPr sz="2250" b="1">
                <a:solidFill>
                  <a:srgbClr val="17221F"/>
                </a:solidFill>
                <a:latin typeface="Arial"/>
                <a:ea typeface="Arial"/>
                <a:cs typeface="Arial"/>
              </a:rPr>
              <a:t>Challenges</a:t>
            </a:r>
          </a:p>
        </p:txBody>
      </p:sp>
      <p:sp>
        <p:nvSpPr>
          <p:cNvPr id="16" name="upside-story-0">
            <a:extLst xmlns:a="http://schemas.openxmlformats.org/drawingml/2006/main">
              <a:ext uri="{FF2B5EF4-FFF2-40B4-BE49-F238E27FC236}">
                <a16:creationId xmlns:a16="http://schemas.microsoft.com/office/drawing/2014/main" id="{8DE5543D-6DE6-4DD8-922A-904B747C94A9}"/>
              </a:ext>
            </a:extLst>
          </p:cNvPr>
          <p:cNvSpPr>
            <a:spLocks xmlns:a="http://schemas.openxmlformats.org/drawingml/2006/main" noGrp="1"/>
          </p:cNvSpPr>
          <p:nvPr/>
        </p:nvSpPr>
        <p:spPr>
          <a:xfrm xmlns:a="http://schemas.openxmlformats.org/drawingml/2006/main">
            <a:off x="609600" y="4095750"/>
            <a:ext cx="685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21F"/>
                </a:solidFill>
                <a:latin typeface="Arial"/>
                <a:ea typeface="Arial"/>
                <a:cs typeface="Arial"/>
              </a:defRPr>
            </a:pPr>
            <a:r>
              <a:rPr sz="1800" b="0">
                <a:solidFill>
                  <a:srgbClr val="17221F"/>
                </a:solidFill>
                <a:latin typeface="Arial"/>
                <a:ea typeface="Arial"/>
                <a:cs typeface="Arial"/>
              </a:rPr>
              <a:t>Segment A +720 k€ -&gt; driven by Volume -210 and Price +1050.</a:t>
            </a:r>
          </a:p>
        </p:txBody>
      </p:sp>
      <p:sp>
        <p:nvSpPr>
          <p:cNvPr id="17" name="upside-story-1">
            <a:extLst xmlns:a="http://schemas.openxmlformats.org/drawingml/2006/main">
              <a:ext uri="{FF2B5EF4-FFF2-40B4-BE49-F238E27FC236}">
                <a16:creationId xmlns:a16="http://schemas.microsoft.com/office/drawing/2014/main" id="{759A9708-6BE9-4E07-9CD8-5404F552F451}"/>
              </a:ext>
            </a:extLst>
          </p:cNvPr>
          <p:cNvSpPr>
            <a:spLocks xmlns:a="http://schemas.openxmlformats.org/drawingml/2006/main" noGrp="1"/>
          </p:cNvSpPr>
          <p:nvPr/>
        </p:nvSpPr>
        <p:spPr>
          <a:xfrm xmlns:a="http://schemas.openxmlformats.org/drawingml/2006/main">
            <a:off x="609600" y="4819650"/>
            <a:ext cx="685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21F"/>
                </a:solidFill>
                <a:latin typeface="Arial"/>
                <a:ea typeface="Arial"/>
                <a:cs typeface="Arial"/>
              </a:defRPr>
            </a:pPr>
            <a:r>
              <a:rPr sz="1800" b="0">
                <a:solidFill>
                  <a:srgbClr val="17221F"/>
                </a:solidFill>
                <a:latin typeface="Arial"/>
                <a:ea typeface="Arial"/>
                <a:cs typeface="Arial"/>
              </a:rPr>
              <a:t>Segment E +440 k€ -&gt; driven by Volume +160 and Price +260.</a:t>
            </a:r>
          </a:p>
        </p:txBody>
      </p:sp>
      <p:sp>
        <p:nvSpPr>
          <p:cNvPr id="18" name="upside-story-2">
            <a:extLst xmlns:a="http://schemas.openxmlformats.org/drawingml/2006/main">
              <a:ext uri="{FF2B5EF4-FFF2-40B4-BE49-F238E27FC236}">
                <a16:creationId xmlns:a16="http://schemas.microsoft.com/office/drawing/2014/main" id="{7CC13CE6-B690-4D27-9183-8B0A4AF6E31B}"/>
              </a:ext>
            </a:extLst>
          </p:cNvPr>
          <p:cNvSpPr>
            <a:spLocks xmlns:a="http://schemas.openxmlformats.org/drawingml/2006/main" noGrp="1"/>
          </p:cNvSpPr>
          <p:nvPr/>
        </p:nvSpPr>
        <p:spPr>
          <a:xfrm xmlns:a="http://schemas.openxmlformats.org/drawingml/2006/main">
            <a:off x="609600" y="5543550"/>
            <a:ext cx="685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21F"/>
                </a:solidFill>
                <a:latin typeface="Arial"/>
                <a:ea typeface="Arial"/>
                <a:cs typeface="Arial"/>
              </a:defRPr>
            </a:pPr>
            <a:r>
              <a:rPr sz="1800" b="0">
                <a:solidFill>
                  <a:srgbClr val="17221F"/>
                </a:solidFill>
                <a:latin typeface="Arial"/>
                <a:ea typeface="Arial"/>
                <a:cs typeface="Arial"/>
              </a:rPr>
              <a:t>Segment C +230 k€ -&gt; driven by Volume -40 and Price +310.</a:t>
            </a:r>
          </a:p>
        </p:txBody>
      </p:sp>
      <p:sp>
        <p:nvSpPr>
          <p:cNvPr id="19" name="upside-story-3">
            <a:extLst xmlns:a="http://schemas.openxmlformats.org/drawingml/2006/main">
              <a:ext uri="{FF2B5EF4-FFF2-40B4-BE49-F238E27FC236}">
                <a16:creationId xmlns:a16="http://schemas.microsoft.com/office/drawing/2014/main" id="{F46D6551-27CB-4432-A37F-9221E94123C1}"/>
              </a:ext>
            </a:extLst>
          </p:cNvPr>
          <p:cNvSpPr>
            <a:spLocks xmlns:a="http://schemas.openxmlformats.org/drawingml/2006/main" noGrp="1"/>
          </p:cNvSpPr>
          <p:nvPr/>
        </p:nvSpPr>
        <p:spPr>
          <a:xfrm xmlns:a="http://schemas.openxmlformats.org/drawingml/2006/main">
            <a:off x="609600" y="6267450"/>
            <a:ext cx="685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21F"/>
                </a:solidFill>
                <a:latin typeface="Arial"/>
                <a:ea typeface="Arial"/>
                <a:cs typeface="Arial"/>
              </a:defRPr>
            </a:pPr>
            <a:r>
              <a:rPr sz="1800" b="0">
                <a:solidFill>
                  <a:srgbClr val="17221F"/>
                </a:solidFill>
                <a:latin typeface="Arial"/>
                <a:ea typeface="Arial"/>
                <a:cs typeface="Arial"/>
              </a:rPr>
              <a:t>Segment B +180 k€ -&gt; driven by Volume -800 and Price +950.</a:t>
            </a:r>
          </a:p>
        </p:txBody>
      </p:sp>
      <p:sp>
        <p:nvSpPr>
          <p:cNvPr id="20" name="upside-story-4">
            <a:extLst xmlns:a="http://schemas.openxmlformats.org/drawingml/2006/main">
              <a:ext uri="{FF2B5EF4-FFF2-40B4-BE49-F238E27FC236}">
                <a16:creationId xmlns:a16="http://schemas.microsoft.com/office/drawing/2014/main" id="{2854AE1F-B9B4-402C-8A00-B5066E158223}"/>
              </a:ext>
            </a:extLst>
          </p:cNvPr>
          <p:cNvSpPr>
            <a:spLocks xmlns:a="http://schemas.openxmlformats.org/drawingml/2006/main" noGrp="1"/>
          </p:cNvSpPr>
          <p:nvPr/>
        </p:nvSpPr>
        <p:spPr>
          <a:xfrm xmlns:a="http://schemas.openxmlformats.org/drawingml/2006/main">
            <a:off x="609600" y="6991350"/>
            <a:ext cx="685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21F"/>
                </a:solidFill>
                <a:latin typeface="Arial"/>
                <a:ea typeface="Arial"/>
                <a:cs typeface="Arial"/>
              </a:defRPr>
            </a:pPr>
            <a:r>
              <a:rPr sz="1800" b="0">
                <a:solidFill>
                  <a:srgbClr val="17221F"/>
                </a:solidFill>
                <a:latin typeface="Arial"/>
                <a:ea typeface="Arial"/>
                <a:cs typeface="Arial"/>
              </a:rPr>
              <a:t>Segment D +40 k€ -&gt; driven by Volume -90 and Price +170.</a:t>
            </a:r>
          </a:p>
        </p:txBody>
      </p:sp>
      <p:sp>
        <p:nvSpPr>
          <p:cNvPr id="21" name="challenge-story-0">
            <a:extLst xmlns:a="http://schemas.openxmlformats.org/drawingml/2006/main">
              <a:ext uri="{FF2B5EF4-FFF2-40B4-BE49-F238E27FC236}">
                <a16:creationId xmlns:a16="http://schemas.microsoft.com/office/drawing/2014/main" id="{C5EB20FF-B7E1-42A2-B9B6-5394D2309872}"/>
              </a:ext>
            </a:extLst>
          </p:cNvPr>
          <p:cNvSpPr>
            <a:spLocks xmlns:a="http://schemas.openxmlformats.org/drawingml/2006/main" noGrp="1"/>
          </p:cNvSpPr>
          <p:nvPr/>
        </p:nvSpPr>
        <p:spPr>
          <a:xfrm xmlns:a="http://schemas.openxmlformats.org/drawingml/2006/main">
            <a:off x="8239125" y="4095750"/>
            <a:ext cx="6391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21F"/>
                </a:solidFill>
                <a:latin typeface="Arial"/>
                <a:ea typeface="Arial"/>
                <a:cs typeface="Arial"/>
              </a:defRPr>
            </a:pPr>
            <a:r>
              <a:rPr sz="1800" b="0">
                <a:solidFill>
                  <a:srgbClr val="17221F"/>
                </a:solidFill>
                <a:latin typeface="Arial"/>
                <a:ea typeface="Arial"/>
                <a:cs typeface="Arial"/>
              </a:rPr>
              <a:t>Segment G -220 k€ -&gt; driven by Volume +280 and Price -570.</a:t>
            </a:r>
          </a:p>
        </p:txBody>
      </p:sp>
      <p:sp>
        <p:nvSpPr>
          <p:cNvPr id="22" name="challenge-story-1">
            <a:extLst xmlns:a="http://schemas.openxmlformats.org/drawingml/2006/main">
              <a:ext uri="{FF2B5EF4-FFF2-40B4-BE49-F238E27FC236}">
                <a16:creationId xmlns:a16="http://schemas.microsoft.com/office/drawing/2014/main" id="{E1CFFE75-7CED-4DA2-B52D-B2486E625E59}"/>
              </a:ext>
            </a:extLst>
          </p:cNvPr>
          <p:cNvSpPr>
            <a:spLocks xmlns:a="http://schemas.openxmlformats.org/drawingml/2006/main" noGrp="1"/>
          </p:cNvSpPr>
          <p:nvPr/>
        </p:nvSpPr>
        <p:spPr>
          <a:xfrm xmlns:a="http://schemas.openxmlformats.org/drawingml/2006/main">
            <a:off x="8239125" y="5057775"/>
            <a:ext cx="6391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21F"/>
                </a:solidFill>
                <a:latin typeface="Arial"/>
                <a:ea typeface="Arial"/>
                <a:cs typeface="Arial"/>
              </a:defRPr>
            </a:pPr>
            <a:r>
              <a:rPr sz="1800" b="0">
                <a:solidFill>
                  <a:srgbClr val="17221F"/>
                </a:solidFill>
                <a:latin typeface="Arial"/>
                <a:ea typeface="Arial"/>
                <a:cs typeface="Arial"/>
              </a:rPr>
              <a:t>Segment H -35 k€ -&gt; driven by Price -110 and Mix +55.</a:t>
            </a:r>
          </a:p>
        </p:txBody>
      </p:sp>
      <p:sp>
        <p:nvSpPr>
          <p:cNvPr id="23" name="challenge-story-2">
            <a:extLst xmlns:a="http://schemas.openxmlformats.org/drawingml/2006/main">
              <a:ext uri="{FF2B5EF4-FFF2-40B4-BE49-F238E27FC236}">
                <a16:creationId xmlns:a16="http://schemas.microsoft.com/office/drawing/2014/main" id="{2A7D91AD-EA2E-406D-A947-1A21728C7C87}"/>
              </a:ext>
            </a:extLst>
          </p:cNvPr>
          <p:cNvSpPr>
            <a:spLocks xmlns:a="http://schemas.openxmlformats.org/drawingml/2006/main" noGrp="1"/>
          </p:cNvSpPr>
          <p:nvPr/>
        </p:nvSpPr>
        <p:spPr>
          <a:xfrm xmlns:a="http://schemas.openxmlformats.org/drawingml/2006/main">
            <a:off x="8239125" y="6019800"/>
            <a:ext cx="6391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21F"/>
                </a:solidFill>
                <a:latin typeface="Arial"/>
                <a:ea typeface="Arial"/>
                <a:cs typeface="Arial"/>
              </a:defRPr>
            </a:pPr>
            <a:r>
              <a:rPr sz="1800" b="0">
                <a:solidFill>
                  <a:srgbClr val="17221F"/>
                </a:solidFill>
                <a:latin typeface="Arial"/>
                <a:ea typeface="Arial"/>
                <a:cs typeface="Arial"/>
              </a:rPr>
              <a:t>Segment F -15 k€ -&gt; driven by Volume +3600 and Price -3630.</a:t>
            </a:r>
          </a:p>
        </p:txBody>
      </p:sp>
      <p:sp>
        <p:nvSpPr>
          <p:cNvPr id="24" name="story-note">
            <a:extLst xmlns:a="http://schemas.openxmlformats.org/drawingml/2006/main">
              <a:ext uri="{FF2B5EF4-FFF2-40B4-BE49-F238E27FC236}">
                <a16:creationId xmlns:a16="http://schemas.microsoft.com/office/drawing/2014/main" id="{EFFE340B-3265-4751-89C8-CCEEBCA07B39}"/>
              </a:ext>
            </a:extLst>
          </p:cNvPr>
          <p:cNvSpPr>
            <a:spLocks xmlns:a="http://schemas.openxmlformats.org/drawingml/2006/main" noGrp="1"/>
          </p:cNvSpPr>
          <p:nvPr/>
        </p:nvSpPr>
        <p:spPr>
          <a:xfrm xmlns:a="http://schemas.openxmlformats.org/drawingml/2006/main">
            <a:off x="8239125" y="7429500"/>
            <a:ext cx="6391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4625D"/>
                </a:solidFill>
                <a:latin typeface="Arial"/>
                <a:ea typeface="Arial"/>
                <a:cs typeface="Arial"/>
              </a:defRPr>
            </a:pPr>
            <a:r>
              <a:rPr sz="1350" b="0">
                <a:solidFill>
                  <a:srgbClr val="54625D"/>
                </a:solidFill>
                <a:latin typeface="Arial"/>
                <a:ea typeface="Arial"/>
                <a:cs typeface="Arial"/>
              </a:rPr>
              <a:t>Machine-generated management comments</a:t>
            </a:r>
          </a:p>
        </p:txBody>
      </p:sp>
    </p:spTree>
    <p:extLst>
      <p:ext uri="{BB962C8B-B14F-4D97-AF65-F5344CB8AC3E}">
        <p14:creationId xmlns:p14="http://schemas.microsoft.com/office/powerpoint/2010/main" val="4302743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header">
            <a:extLst xmlns:a="http://schemas.openxmlformats.org/drawingml/2006/main">
              <a:ext uri="{FF2B5EF4-FFF2-40B4-BE49-F238E27FC236}">
                <a16:creationId xmlns:a16="http://schemas.microsoft.com/office/drawing/2014/main" id="{0EC73B85-291C-4A6E-B1D2-7CA3C8E8CCD1}"/>
              </a:ext>
            </a:extLst>
          </p:cNvPr>
          <p:cNvSpPr>
            <a:spLocks xmlns:a="http://schemas.openxmlformats.org/drawingml/2006/main" noGrp="1"/>
          </p:cNvSpPr>
          <p:nvPr/>
        </p:nvSpPr>
        <p:spPr>
          <a:xfrm xmlns:a="http://schemas.openxmlformats.org/drawingml/2006/main">
            <a:off x="0" y="0"/>
            <a:ext cx="15240000" cy="1743075"/>
          </a:xfrm>
          <a:prstGeom xmlns:a="http://schemas.openxmlformats.org/drawingml/2006/main" prst="rect">
            <a:avLst/>
          </a:prstGeom>
          <a:solidFill xmlns:a="http://schemas.openxmlformats.org/drawingml/2006/main">
            <a:srgbClr val="17221F"/>
          </a:solidFill>
          <a:ln xmlns:a="http://schemas.openxmlformats.org/drawingml/2006/main" w="0">
            <a:noFill/>
          </a:ln>
        </p:spPr>
      </p:sp>
      <p:sp>
        <p:nvSpPr>
          <p:cNvPr id="2" name="eyebrow">
            <a:extLst xmlns:a="http://schemas.openxmlformats.org/drawingml/2006/main">
              <a:ext uri="{FF2B5EF4-FFF2-40B4-BE49-F238E27FC236}">
                <a16:creationId xmlns:a16="http://schemas.microsoft.com/office/drawing/2014/main" id="{871038AC-2D68-4913-9690-A15DFD3E09BE}"/>
              </a:ext>
            </a:extLst>
          </p:cNvPr>
          <p:cNvSpPr>
            <a:spLocks xmlns:a="http://schemas.openxmlformats.org/drawingml/2006/main" noGrp="1"/>
          </p:cNvSpPr>
          <p:nvPr/>
        </p:nvSpPr>
        <p:spPr>
          <a:xfrm xmlns:a="http://schemas.openxmlformats.org/drawingml/2006/main">
            <a:off x="609600" y="2571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D8F578"/>
                </a:solidFill>
                <a:latin typeface="Arial"/>
                <a:ea typeface="Arial"/>
                <a:cs typeface="Arial"/>
              </a:defRPr>
            </a:pPr>
            <a:r>
              <a:rPr sz="1200" b="1">
                <a:solidFill>
                  <a:srgbClr val="D8F578"/>
                </a:solidFill>
                <a:latin typeface="Arial"/>
                <a:ea typeface="Arial"/>
                <a:cs typeface="Arial"/>
              </a:rPr>
              <a:t>CM1 BRIDGE  /  REGIONAL OVERVIEW</a:t>
            </a:r>
          </a:p>
        </p:txBody>
      </p:sp>
      <p:sp>
        <p:nvSpPr>
          <p:cNvPr id="3" name="title">
            <a:extLst xmlns:a="http://schemas.openxmlformats.org/drawingml/2006/main">
              <a:ext uri="{FF2B5EF4-FFF2-40B4-BE49-F238E27FC236}">
                <a16:creationId xmlns:a16="http://schemas.microsoft.com/office/drawing/2014/main" id="{AE9E99F9-5C89-441A-A525-9723D95FB8DE}"/>
              </a:ext>
            </a:extLst>
          </p:cNvPr>
          <p:cNvSpPr>
            <a:spLocks xmlns:a="http://schemas.openxmlformats.org/drawingml/2006/main" noGrp="1"/>
          </p:cNvSpPr>
          <p:nvPr/>
        </p:nvSpPr>
        <p:spPr>
          <a:xfrm xmlns:a="http://schemas.openxmlformats.org/drawingml/2006/main">
            <a:off x="609600" y="609600"/>
            <a:ext cx="1402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Regional growth by country</a:t>
            </a:r>
          </a:p>
        </p:txBody>
      </p:sp>
      <p:sp>
        <p:nvSpPr>
          <p:cNvPr id="4" name="machine-subtitle">
            <a:extLst xmlns:a="http://schemas.openxmlformats.org/drawingml/2006/main">
              <a:ext uri="{FF2B5EF4-FFF2-40B4-BE49-F238E27FC236}">
                <a16:creationId xmlns:a16="http://schemas.microsoft.com/office/drawing/2014/main" id="{B8D07AD8-7D05-4EB4-A515-91B6EDDC30EB}"/>
              </a:ext>
            </a:extLst>
          </p:cNvPr>
          <p:cNvSpPr>
            <a:spLocks xmlns:a="http://schemas.openxmlformats.org/drawingml/2006/main" noGrp="1"/>
          </p:cNvSpPr>
          <p:nvPr/>
        </p:nvSpPr>
        <p:spPr>
          <a:xfrm xmlns:a="http://schemas.openxmlformats.org/drawingml/2006/main">
            <a:off x="609600" y="1209675"/>
            <a:ext cx="14020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D8F578"/>
                </a:solidFill>
                <a:latin typeface="Arial"/>
                <a:ea typeface="Arial"/>
                <a:cs typeface="Arial"/>
              </a:defRPr>
            </a:pPr>
            <a:r>
              <a:rPr sz="1875" b="0">
                <a:solidFill>
                  <a:srgbClr val="D8F578"/>
                </a:solidFill>
                <a:latin typeface="Arial"/>
                <a:ea typeface="Arial"/>
                <a:cs typeface="Arial"/>
              </a:rPr>
              <a:t>ACT +1,5M€ CM1 over 2.FC</a:t>
            </a:r>
          </a:p>
        </p:txBody>
      </p:sp>
      <p:sp>
        <p:nvSpPr>
          <p:cNvPr id="5" name="disclosure">
            <a:extLst xmlns:a="http://schemas.openxmlformats.org/drawingml/2006/main">
              <a:ext uri="{FF2B5EF4-FFF2-40B4-BE49-F238E27FC236}">
                <a16:creationId xmlns:a16="http://schemas.microsoft.com/office/drawing/2014/main" id="{178AFB5F-4601-4232-8EC0-D96E1DBCDEBB}"/>
              </a:ext>
            </a:extLst>
          </p:cNvPr>
          <p:cNvSpPr>
            <a:spLocks xmlns:a="http://schemas.openxmlformats.org/drawingml/2006/main" noGrp="1"/>
          </p:cNvSpPr>
          <p:nvPr/>
        </p:nvSpPr>
        <p:spPr>
          <a:xfrm xmlns:a="http://schemas.openxmlformats.org/drawingml/2006/main">
            <a:off x="609600" y="8239125"/>
            <a:ext cx="13144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54625D"/>
                </a:solidFill>
                <a:latin typeface="Arial"/>
                <a:ea typeface="Arial"/>
                <a:cs typeface="Arial"/>
              </a:defRPr>
            </a:pPr>
            <a:r>
              <a:rPr sz="1050" b="0">
                <a:solidFill>
                  <a:srgbClr val="54625D"/>
                </a:solidFill>
                <a:latin typeface="Arial"/>
                <a:ea typeface="Arial"/>
                <a:cs typeface="Arial"/>
              </a:rPr>
              <a:t>Illustrative data. Original story wording retained with substituted names and figures.</a:t>
            </a:r>
          </a:p>
        </p:txBody>
      </p:sp>
      <p:sp>
        <p:nvSpPr>
          <p:cNvPr id="6" name="page">
            <a:extLst xmlns:a="http://schemas.openxmlformats.org/drawingml/2006/main">
              <a:ext uri="{FF2B5EF4-FFF2-40B4-BE49-F238E27FC236}">
                <a16:creationId xmlns:a16="http://schemas.microsoft.com/office/drawing/2014/main" id="{24B99FCE-6556-44AE-BE63-BE0808946CEA}"/>
              </a:ext>
            </a:extLst>
          </p:cNvPr>
          <p:cNvSpPr>
            <a:spLocks xmlns:a="http://schemas.openxmlformats.org/drawingml/2006/main" noGrp="1"/>
          </p:cNvSpPr>
          <p:nvPr/>
        </p:nvSpPr>
        <p:spPr>
          <a:xfrm xmlns:a="http://schemas.openxmlformats.org/drawingml/2006/main">
            <a:off x="14116050" y="820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1">
                <a:solidFill>
                  <a:srgbClr val="087F72"/>
                </a:solidFill>
                <a:latin typeface="Arial"/>
                <a:ea typeface="Arial"/>
                <a:cs typeface="Arial"/>
              </a:defRPr>
            </a:pPr>
            <a:r>
              <a:rPr sz="1350" b="1">
                <a:solidFill>
                  <a:srgbClr val="087F72"/>
                </a:solidFill>
                <a:latin typeface="Arial"/>
                <a:ea typeface="Arial"/>
                <a:cs typeface="Arial"/>
              </a:rPr>
              <a:t>04</a:t>
            </a:r>
          </a:p>
        </p:txBody>
      </p:sp>
      <p:sp>
        <p:nvSpPr>
          <p:cNvPr id="7" name="kpi-label-0">
            <a:extLst xmlns:a="http://schemas.openxmlformats.org/drawingml/2006/main">
              <a:ext uri="{FF2B5EF4-FFF2-40B4-BE49-F238E27FC236}">
                <a16:creationId xmlns:a16="http://schemas.microsoft.com/office/drawing/2014/main" id="{0F9A07C9-E571-47CF-8FB5-57F4EFF1FBE3}"/>
              </a:ext>
            </a:extLst>
          </p:cNvPr>
          <p:cNvSpPr>
            <a:spLocks xmlns:a="http://schemas.openxmlformats.org/drawingml/2006/main" noGrp="1"/>
          </p:cNvSpPr>
          <p:nvPr/>
        </p:nvSpPr>
        <p:spPr>
          <a:xfrm xmlns:a="http://schemas.openxmlformats.org/drawingml/2006/main">
            <a:off x="609600" y="1971675"/>
            <a:ext cx="440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2.FC CM1 / k€</a:t>
            </a:r>
          </a:p>
        </p:txBody>
      </p:sp>
      <p:sp>
        <p:nvSpPr>
          <p:cNvPr id="8" name="kpi-value-0">
            <a:extLst xmlns:a="http://schemas.openxmlformats.org/drawingml/2006/main">
              <a:ext uri="{FF2B5EF4-FFF2-40B4-BE49-F238E27FC236}">
                <a16:creationId xmlns:a16="http://schemas.microsoft.com/office/drawing/2014/main" id="{0BBB8E01-D72C-44F2-8E30-A6406F43359D}"/>
              </a:ext>
            </a:extLst>
          </p:cNvPr>
          <p:cNvSpPr>
            <a:spLocks xmlns:a="http://schemas.openxmlformats.org/drawingml/2006/main" noGrp="1"/>
          </p:cNvSpPr>
          <p:nvPr/>
        </p:nvSpPr>
        <p:spPr>
          <a:xfrm xmlns:a="http://schemas.openxmlformats.org/drawingml/2006/main">
            <a:off x="609600" y="2238375"/>
            <a:ext cx="440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17221F"/>
                </a:solidFill>
                <a:latin typeface="Arial"/>
                <a:ea typeface="Arial"/>
                <a:cs typeface="Arial"/>
              </a:defRPr>
            </a:pPr>
            <a:r>
              <a:rPr sz="2700" b="1">
                <a:solidFill>
                  <a:srgbClr val="17221F"/>
                </a:solidFill>
                <a:latin typeface="Arial"/>
                <a:ea typeface="Arial"/>
                <a:cs typeface="Arial"/>
              </a:rPr>
              <a:t>92,000</a:t>
            </a:r>
          </a:p>
        </p:txBody>
      </p:sp>
      <p:sp>
        <p:nvSpPr>
          <p:cNvPr id="9" name="kpi-label-1">
            <a:extLst xmlns:a="http://schemas.openxmlformats.org/drawingml/2006/main">
              <a:ext uri="{FF2B5EF4-FFF2-40B4-BE49-F238E27FC236}">
                <a16:creationId xmlns:a16="http://schemas.microsoft.com/office/drawing/2014/main" id="{F60472CD-7259-4388-A2BB-B5D880F60CA5}"/>
              </a:ext>
            </a:extLst>
          </p:cNvPr>
          <p:cNvSpPr>
            <a:spLocks xmlns:a="http://schemas.openxmlformats.org/drawingml/2006/main" noGrp="1"/>
          </p:cNvSpPr>
          <p:nvPr/>
        </p:nvSpPr>
        <p:spPr>
          <a:xfrm xmlns:a="http://schemas.openxmlformats.org/drawingml/2006/main">
            <a:off x="5283200" y="1971675"/>
            <a:ext cx="440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YTD ACT CM1 / k€</a:t>
            </a:r>
          </a:p>
        </p:txBody>
      </p:sp>
      <p:sp>
        <p:nvSpPr>
          <p:cNvPr id="10" name="kpi-value-1">
            <a:extLst xmlns:a="http://schemas.openxmlformats.org/drawingml/2006/main">
              <a:ext uri="{FF2B5EF4-FFF2-40B4-BE49-F238E27FC236}">
                <a16:creationId xmlns:a16="http://schemas.microsoft.com/office/drawing/2014/main" id="{2B37554D-32C4-43D1-9F09-4BBDE6AC235D}"/>
              </a:ext>
            </a:extLst>
          </p:cNvPr>
          <p:cNvSpPr>
            <a:spLocks xmlns:a="http://schemas.openxmlformats.org/drawingml/2006/main" noGrp="1"/>
          </p:cNvSpPr>
          <p:nvPr/>
        </p:nvSpPr>
        <p:spPr>
          <a:xfrm xmlns:a="http://schemas.openxmlformats.org/drawingml/2006/main">
            <a:off x="5283200" y="2238375"/>
            <a:ext cx="440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17221F"/>
                </a:solidFill>
                <a:latin typeface="Arial"/>
                <a:ea typeface="Arial"/>
                <a:cs typeface="Arial"/>
              </a:defRPr>
            </a:pPr>
            <a:r>
              <a:rPr sz="2700" b="1">
                <a:solidFill>
                  <a:srgbClr val="17221F"/>
                </a:solidFill>
                <a:latin typeface="Arial"/>
                <a:ea typeface="Arial"/>
                <a:cs typeface="Arial"/>
              </a:rPr>
              <a:t>93,500</a:t>
            </a:r>
          </a:p>
        </p:txBody>
      </p:sp>
      <p:sp>
        <p:nvSpPr>
          <p:cNvPr id="11" name="kpi-label-2">
            <a:extLst xmlns:a="http://schemas.openxmlformats.org/drawingml/2006/main">
              <a:ext uri="{FF2B5EF4-FFF2-40B4-BE49-F238E27FC236}">
                <a16:creationId xmlns:a16="http://schemas.microsoft.com/office/drawing/2014/main" id="{03D32033-C431-426F-899C-8324931F44CF}"/>
              </a:ext>
            </a:extLst>
          </p:cNvPr>
          <p:cNvSpPr>
            <a:spLocks xmlns:a="http://schemas.openxmlformats.org/drawingml/2006/main" noGrp="1"/>
          </p:cNvSpPr>
          <p:nvPr/>
        </p:nvSpPr>
        <p:spPr>
          <a:xfrm xmlns:a="http://schemas.openxmlformats.org/drawingml/2006/main">
            <a:off x="9956800" y="1971675"/>
            <a:ext cx="4406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ACT vs. 2.FC / k€</a:t>
            </a:r>
          </a:p>
        </p:txBody>
      </p:sp>
      <p:sp>
        <p:nvSpPr>
          <p:cNvPr id="12" name="kpi-value-2">
            <a:extLst xmlns:a="http://schemas.openxmlformats.org/drawingml/2006/main">
              <a:ext uri="{FF2B5EF4-FFF2-40B4-BE49-F238E27FC236}">
                <a16:creationId xmlns:a16="http://schemas.microsoft.com/office/drawing/2014/main" id="{E909027A-5C4B-42D5-9DAE-3C287C96D5DF}"/>
              </a:ext>
            </a:extLst>
          </p:cNvPr>
          <p:cNvSpPr>
            <a:spLocks xmlns:a="http://schemas.openxmlformats.org/drawingml/2006/main" noGrp="1"/>
          </p:cNvSpPr>
          <p:nvPr/>
        </p:nvSpPr>
        <p:spPr>
          <a:xfrm xmlns:a="http://schemas.openxmlformats.org/drawingml/2006/main">
            <a:off x="9956800" y="2238375"/>
            <a:ext cx="4406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087F72"/>
                </a:solidFill>
                <a:latin typeface="Arial"/>
                <a:ea typeface="Arial"/>
                <a:cs typeface="Arial"/>
              </a:defRPr>
            </a:pPr>
            <a:r>
              <a:rPr sz="2700" b="1">
                <a:solidFill>
                  <a:srgbClr val="087F72"/>
                </a:solidFill>
                <a:latin typeface="Arial"/>
                <a:ea typeface="Arial"/>
                <a:cs typeface="Arial"/>
              </a:rPr>
              <a:t>+1,500</a:t>
            </a:r>
          </a:p>
        </p:txBody>
      </p:sp>
      <p:sp>
        <p:nvSpPr>
          <p:cNvPr id="13" name="driver-callouts">
            <a:extLst xmlns:a="http://schemas.openxmlformats.org/drawingml/2006/main">
              <a:ext uri="{FF2B5EF4-FFF2-40B4-BE49-F238E27FC236}">
                <a16:creationId xmlns:a16="http://schemas.microsoft.com/office/drawing/2014/main" id="{F300CB8B-756C-40CF-BCB5-7B97B1336D03}"/>
              </a:ext>
            </a:extLst>
          </p:cNvPr>
          <p:cNvSpPr>
            <a:spLocks xmlns:a="http://schemas.openxmlformats.org/drawingml/2006/main" noGrp="1"/>
          </p:cNvSpPr>
          <p:nvPr/>
        </p:nvSpPr>
        <p:spPr>
          <a:xfrm xmlns:a="http://schemas.openxmlformats.org/drawingml/2006/main">
            <a:off x="609600" y="2838450"/>
            <a:ext cx="14020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72"/>
                </a:solidFill>
                <a:latin typeface="Arial"/>
                <a:ea typeface="Arial"/>
                <a:cs typeface="Arial"/>
              </a:defRPr>
            </a:pPr>
            <a:r>
              <a:rPr sz="1500" b="1">
                <a:solidFill>
                  <a:srgbClr val="087F72"/>
                </a:solidFill>
                <a:latin typeface="Arial"/>
                <a:ea typeface="Arial"/>
                <a:cs typeface="Arial"/>
              </a:rPr>
              <a:t>Drivers   Country F +2,156k€     Country G +450k€     Country H -410k€     Country D -400k€</a:t>
            </a:r>
          </a:p>
        </p:txBody>
      </p:sp>
      <p:graphicFrame>
        <p:nvGraphicFramePr>
          <p:cNvPr id="29" name="Chart"/>
          <p:cNvGraphicFramePr/>
          <p:nvPr/>
        </p:nvGraphicFramePr>
        <p:xfrm>
          <a:off xmlns:a="http://schemas.openxmlformats.org/drawingml/2006/main" x="609600" y="3476625"/>
          <a:ext xmlns:a="http://schemas.openxmlformats.org/drawingml/2006/main" cx="14020800" cy="4000500"/>
        </p:xfrm>
        <a:graphic xmlns:a="http://schemas.openxmlformats.org/drawingml/2006/main">
          <a:graphicData uri="http://schemas.openxmlformats.org/drawingml/2006/chart">
            <c:chart xmlns:r="http://schemas.openxmlformats.org/officeDocument/2006/relationships" xmlns:c="http://schemas.openxmlformats.org/drawingml/2006/chart" r:id="Re82a333ec0a34ef9"/>
          </a:graphicData>
        </a:graphic>
      </p:graphicFrame>
      <p:sp>
        <p:nvSpPr>
          <p:cNvPr id="15" name="axis-note">
            <a:extLst xmlns:a="http://schemas.openxmlformats.org/drawingml/2006/main">
              <a:ext uri="{FF2B5EF4-FFF2-40B4-BE49-F238E27FC236}">
                <a16:creationId xmlns:a16="http://schemas.microsoft.com/office/drawing/2014/main" id="{B6C34FC4-7CB8-4790-8C82-7D91416E0664}"/>
              </a:ext>
            </a:extLst>
          </p:cNvPr>
          <p:cNvSpPr>
            <a:spLocks xmlns:a="http://schemas.openxmlformats.org/drawingml/2006/main" noGrp="1"/>
          </p:cNvSpPr>
          <p:nvPr/>
        </p:nvSpPr>
        <p:spPr>
          <a:xfrm xmlns:a="http://schemas.openxmlformats.org/drawingml/2006/main">
            <a:off x="609600" y="7743825"/>
            <a:ext cx="14020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4625D"/>
                </a:solidFill>
                <a:latin typeface="Arial"/>
                <a:ea typeface="Arial"/>
                <a:cs typeface="Arial"/>
              </a:defRPr>
            </a:pPr>
            <a:r>
              <a:rPr sz="1275" b="0">
                <a:solidFill>
                  <a:srgbClr val="54625D"/>
                </a:solidFill>
                <a:latin typeface="Arial"/>
                <a:ea typeface="Arial"/>
                <a:cs typeface="Arial"/>
              </a:rPr>
              <a:t>CM1 / k€. Axis begins at 90,000 k€. Export view is shown separately from the countries.</a:t>
            </a:r>
          </a:p>
        </p:txBody>
      </p:sp>
    </p:spTree>
    <p:extLst>
      <p:ext uri="{BB962C8B-B14F-4D97-AF65-F5344CB8AC3E}">
        <p14:creationId xmlns:p14="http://schemas.microsoft.com/office/powerpoint/2010/main" val="17808432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header">
            <a:extLst xmlns:a="http://schemas.openxmlformats.org/drawingml/2006/main">
              <a:ext uri="{FF2B5EF4-FFF2-40B4-BE49-F238E27FC236}">
                <a16:creationId xmlns:a16="http://schemas.microsoft.com/office/drawing/2014/main" id="{216CB353-E750-443E-ADD5-B3C980600379}"/>
              </a:ext>
            </a:extLst>
          </p:cNvPr>
          <p:cNvSpPr>
            <a:spLocks xmlns:a="http://schemas.openxmlformats.org/drawingml/2006/main" noGrp="1"/>
          </p:cNvSpPr>
          <p:nvPr/>
        </p:nvSpPr>
        <p:spPr>
          <a:xfrm xmlns:a="http://schemas.openxmlformats.org/drawingml/2006/main">
            <a:off x="0" y="0"/>
            <a:ext cx="15240000" cy="1743075"/>
          </a:xfrm>
          <a:prstGeom xmlns:a="http://schemas.openxmlformats.org/drawingml/2006/main" prst="rect">
            <a:avLst/>
          </a:prstGeom>
          <a:solidFill xmlns:a="http://schemas.openxmlformats.org/drawingml/2006/main">
            <a:srgbClr val="17221F"/>
          </a:solidFill>
          <a:ln xmlns:a="http://schemas.openxmlformats.org/drawingml/2006/main" w="0">
            <a:noFill/>
          </a:ln>
        </p:spPr>
      </p:sp>
      <p:sp>
        <p:nvSpPr>
          <p:cNvPr id="2" name="eyebrow">
            <a:extLst xmlns:a="http://schemas.openxmlformats.org/drawingml/2006/main">
              <a:ext uri="{FF2B5EF4-FFF2-40B4-BE49-F238E27FC236}">
                <a16:creationId xmlns:a16="http://schemas.microsoft.com/office/drawing/2014/main" id="{03D0A532-BB35-49A9-878A-27C1A2A8D437}"/>
              </a:ext>
            </a:extLst>
          </p:cNvPr>
          <p:cNvSpPr>
            <a:spLocks xmlns:a="http://schemas.openxmlformats.org/drawingml/2006/main" noGrp="1"/>
          </p:cNvSpPr>
          <p:nvPr/>
        </p:nvSpPr>
        <p:spPr>
          <a:xfrm xmlns:a="http://schemas.openxmlformats.org/drawingml/2006/main">
            <a:off x="609600" y="2571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D8F578"/>
                </a:solidFill>
                <a:latin typeface="Arial"/>
                <a:ea typeface="Arial"/>
                <a:cs typeface="Arial"/>
              </a:defRPr>
            </a:pPr>
            <a:r>
              <a:rPr sz="1200" b="1">
                <a:solidFill>
                  <a:srgbClr val="D8F578"/>
                </a:solidFill>
                <a:latin typeface="Arial"/>
                <a:ea typeface="Arial"/>
                <a:cs typeface="Arial"/>
              </a:rPr>
              <a:t>CM1 BRIDGE  /  COUNTRY DETAIL</a:t>
            </a:r>
          </a:p>
        </p:txBody>
      </p:sp>
      <p:sp>
        <p:nvSpPr>
          <p:cNvPr id="3" name="title">
            <a:extLst xmlns:a="http://schemas.openxmlformats.org/drawingml/2006/main">
              <a:ext uri="{FF2B5EF4-FFF2-40B4-BE49-F238E27FC236}">
                <a16:creationId xmlns:a16="http://schemas.microsoft.com/office/drawing/2014/main" id="{8E4EC3F6-F833-478C-A5D7-2C110DF86333}"/>
              </a:ext>
            </a:extLst>
          </p:cNvPr>
          <p:cNvSpPr>
            <a:spLocks xmlns:a="http://schemas.openxmlformats.org/drawingml/2006/main" noGrp="1"/>
          </p:cNvSpPr>
          <p:nvPr/>
        </p:nvSpPr>
        <p:spPr>
          <a:xfrm xmlns:a="http://schemas.openxmlformats.org/drawingml/2006/main">
            <a:off x="609600" y="609600"/>
            <a:ext cx="1402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CM1 drivers ACT vs. 2.FC / Country A</a:t>
            </a:r>
          </a:p>
        </p:txBody>
      </p:sp>
      <p:sp>
        <p:nvSpPr>
          <p:cNvPr id="4" name="machine-subtitle">
            <a:extLst xmlns:a="http://schemas.openxmlformats.org/drawingml/2006/main">
              <a:ext uri="{FF2B5EF4-FFF2-40B4-BE49-F238E27FC236}">
                <a16:creationId xmlns:a16="http://schemas.microsoft.com/office/drawing/2014/main" id="{BF40518F-F0AF-4784-A3BB-27AA38E0F38C}"/>
              </a:ext>
            </a:extLst>
          </p:cNvPr>
          <p:cNvSpPr>
            <a:spLocks xmlns:a="http://schemas.openxmlformats.org/drawingml/2006/main" noGrp="1"/>
          </p:cNvSpPr>
          <p:nvPr/>
        </p:nvSpPr>
        <p:spPr>
          <a:xfrm xmlns:a="http://schemas.openxmlformats.org/drawingml/2006/main">
            <a:off x="609600" y="1209675"/>
            <a:ext cx="14020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D8F578"/>
                </a:solidFill>
                <a:latin typeface="Arial"/>
                <a:ea typeface="Arial"/>
                <a:cs typeface="Arial"/>
              </a:defRPr>
            </a:pPr>
            <a:r>
              <a:rPr sz="1875" b="0">
                <a:solidFill>
                  <a:srgbClr val="D8F578"/>
                </a:solidFill>
                <a:latin typeface="Arial"/>
                <a:ea typeface="Arial"/>
                <a:cs typeface="Arial"/>
              </a:rPr>
              <a:t>Broad drop: pricing softness -190k€; CM1 -12k€.</a:t>
            </a:r>
          </a:p>
        </p:txBody>
      </p:sp>
      <p:sp>
        <p:nvSpPr>
          <p:cNvPr id="5" name="disclosure">
            <a:extLst xmlns:a="http://schemas.openxmlformats.org/drawingml/2006/main">
              <a:ext uri="{FF2B5EF4-FFF2-40B4-BE49-F238E27FC236}">
                <a16:creationId xmlns:a16="http://schemas.microsoft.com/office/drawing/2014/main" id="{8E9D844D-347B-41B3-A39E-5717FE86A7ED}"/>
              </a:ext>
            </a:extLst>
          </p:cNvPr>
          <p:cNvSpPr>
            <a:spLocks xmlns:a="http://schemas.openxmlformats.org/drawingml/2006/main" noGrp="1"/>
          </p:cNvSpPr>
          <p:nvPr/>
        </p:nvSpPr>
        <p:spPr>
          <a:xfrm xmlns:a="http://schemas.openxmlformats.org/drawingml/2006/main">
            <a:off x="609600" y="8239125"/>
            <a:ext cx="13144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54625D"/>
                </a:solidFill>
                <a:latin typeface="Arial"/>
                <a:ea typeface="Arial"/>
                <a:cs typeface="Arial"/>
              </a:defRPr>
            </a:pPr>
            <a:r>
              <a:rPr sz="1050" b="0">
                <a:solidFill>
                  <a:srgbClr val="54625D"/>
                </a:solidFill>
                <a:latin typeface="Arial"/>
                <a:ea typeface="Arial"/>
                <a:cs typeface="Arial"/>
              </a:rPr>
              <a:t>Illustrative data. Original story wording retained with substituted names and figures.</a:t>
            </a:r>
          </a:p>
        </p:txBody>
      </p:sp>
      <p:sp>
        <p:nvSpPr>
          <p:cNvPr id="6" name="page">
            <a:extLst xmlns:a="http://schemas.openxmlformats.org/drawingml/2006/main">
              <a:ext uri="{FF2B5EF4-FFF2-40B4-BE49-F238E27FC236}">
                <a16:creationId xmlns:a16="http://schemas.microsoft.com/office/drawing/2014/main" id="{3DD4A330-101B-460C-94EF-A056D3177974}"/>
              </a:ext>
            </a:extLst>
          </p:cNvPr>
          <p:cNvSpPr>
            <a:spLocks xmlns:a="http://schemas.openxmlformats.org/drawingml/2006/main" noGrp="1"/>
          </p:cNvSpPr>
          <p:nvPr/>
        </p:nvSpPr>
        <p:spPr>
          <a:xfrm xmlns:a="http://schemas.openxmlformats.org/drawingml/2006/main">
            <a:off x="14116050" y="82010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1">
                <a:solidFill>
                  <a:srgbClr val="087F72"/>
                </a:solidFill>
                <a:latin typeface="Arial"/>
                <a:ea typeface="Arial"/>
                <a:cs typeface="Arial"/>
              </a:defRPr>
            </a:pPr>
            <a:r>
              <a:rPr sz="1350" b="1">
                <a:solidFill>
                  <a:srgbClr val="087F72"/>
                </a:solidFill>
                <a:latin typeface="Arial"/>
                <a:ea typeface="Arial"/>
                <a:cs typeface="Arial"/>
              </a:rPr>
              <a:t>05</a:t>
            </a:r>
          </a:p>
        </p:txBody>
      </p:sp>
      <p:sp>
        <p:nvSpPr>
          <p:cNvPr id="7" name="kpi-label-0">
            <a:extLst xmlns:a="http://schemas.openxmlformats.org/drawingml/2006/main">
              <a:ext uri="{FF2B5EF4-FFF2-40B4-BE49-F238E27FC236}">
                <a16:creationId xmlns:a16="http://schemas.microsoft.com/office/drawing/2014/main" id="{E27879B7-202D-4C22-A6CF-FF44C6D5AB18}"/>
              </a:ext>
            </a:extLst>
          </p:cNvPr>
          <p:cNvSpPr>
            <a:spLocks xmlns:a="http://schemas.openxmlformats.org/drawingml/2006/main" noGrp="1"/>
          </p:cNvSpPr>
          <p:nvPr/>
        </p:nvSpPr>
        <p:spPr>
          <a:xfrm xmlns:a="http://schemas.openxmlformats.org/drawingml/2006/main">
            <a:off x="609600" y="19716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Δ CM1 TOTAL / k€</a:t>
            </a:r>
          </a:p>
        </p:txBody>
      </p:sp>
      <p:sp>
        <p:nvSpPr>
          <p:cNvPr id="8" name="kpi-value-0">
            <a:extLst xmlns:a="http://schemas.openxmlformats.org/drawingml/2006/main">
              <a:ext uri="{FF2B5EF4-FFF2-40B4-BE49-F238E27FC236}">
                <a16:creationId xmlns:a16="http://schemas.microsoft.com/office/drawing/2014/main" id="{C306902E-8E9E-4568-81B6-71530AD32BAB}"/>
              </a:ext>
            </a:extLst>
          </p:cNvPr>
          <p:cNvSpPr>
            <a:spLocks xmlns:a="http://schemas.openxmlformats.org/drawingml/2006/main" noGrp="1"/>
          </p:cNvSpPr>
          <p:nvPr/>
        </p:nvSpPr>
        <p:spPr>
          <a:xfrm xmlns:a="http://schemas.openxmlformats.org/drawingml/2006/main">
            <a:off x="609600" y="22383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17221F"/>
                </a:solidFill>
                <a:latin typeface="Arial"/>
                <a:ea typeface="Arial"/>
                <a:cs typeface="Arial"/>
              </a:defRPr>
            </a:pPr>
            <a:r>
              <a:rPr sz="2700" b="1">
                <a:solidFill>
                  <a:srgbClr val="17221F"/>
                </a:solidFill>
                <a:latin typeface="Arial"/>
                <a:ea typeface="Arial"/>
                <a:cs typeface="Arial"/>
              </a:rPr>
              <a:t>-12</a:t>
            </a:r>
          </a:p>
        </p:txBody>
      </p:sp>
      <p:sp>
        <p:nvSpPr>
          <p:cNvPr id="9" name="kpi-label-1">
            <a:extLst xmlns:a="http://schemas.openxmlformats.org/drawingml/2006/main">
              <a:ext uri="{FF2B5EF4-FFF2-40B4-BE49-F238E27FC236}">
                <a16:creationId xmlns:a16="http://schemas.microsoft.com/office/drawing/2014/main" id="{9AE35E5C-AE4B-4596-BBAD-E95C65A09F92}"/>
              </a:ext>
            </a:extLst>
          </p:cNvPr>
          <p:cNvSpPr>
            <a:spLocks xmlns:a="http://schemas.openxmlformats.org/drawingml/2006/main" noGrp="1"/>
          </p:cNvSpPr>
          <p:nvPr/>
        </p:nvSpPr>
        <p:spPr>
          <a:xfrm xmlns:a="http://schemas.openxmlformats.org/drawingml/2006/main">
            <a:off x="4114800" y="19716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PRICE / k€</a:t>
            </a:r>
          </a:p>
        </p:txBody>
      </p:sp>
      <p:sp>
        <p:nvSpPr>
          <p:cNvPr id="10" name="kpi-value-1">
            <a:extLst xmlns:a="http://schemas.openxmlformats.org/drawingml/2006/main">
              <a:ext uri="{FF2B5EF4-FFF2-40B4-BE49-F238E27FC236}">
                <a16:creationId xmlns:a16="http://schemas.microsoft.com/office/drawing/2014/main" id="{4FFA106A-CBD5-4D77-A6C9-3920106C9159}"/>
              </a:ext>
            </a:extLst>
          </p:cNvPr>
          <p:cNvSpPr>
            <a:spLocks xmlns:a="http://schemas.openxmlformats.org/drawingml/2006/main" noGrp="1"/>
          </p:cNvSpPr>
          <p:nvPr/>
        </p:nvSpPr>
        <p:spPr>
          <a:xfrm xmlns:a="http://schemas.openxmlformats.org/drawingml/2006/main">
            <a:off x="4114800" y="22383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17221F"/>
                </a:solidFill>
                <a:latin typeface="Arial"/>
                <a:ea typeface="Arial"/>
                <a:cs typeface="Arial"/>
              </a:defRPr>
            </a:pPr>
            <a:r>
              <a:rPr sz="2700" b="1">
                <a:solidFill>
                  <a:srgbClr val="17221F"/>
                </a:solidFill>
                <a:latin typeface="Arial"/>
                <a:ea typeface="Arial"/>
                <a:cs typeface="Arial"/>
              </a:rPr>
              <a:t>-190</a:t>
            </a:r>
          </a:p>
        </p:txBody>
      </p:sp>
      <p:sp>
        <p:nvSpPr>
          <p:cNvPr id="11" name="kpi-label-2">
            <a:extLst xmlns:a="http://schemas.openxmlformats.org/drawingml/2006/main">
              <a:ext uri="{FF2B5EF4-FFF2-40B4-BE49-F238E27FC236}">
                <a16:creationId xmlns:a16="http://schemas.microsoft.com/office/drawing/2014/main" id="{9F13C76B-9468-45D8-9473-4D0523796E06}"/>
              </a:ext>
            </a:extLst>
          </p:cNvPr>
          <p:cNvSpPr>
            <a:spLocks xmlns:a="http://schemas.openxmlformats.org/drawingml/2006/main" noGrp="1"/>
          </p:cNvSpPr>
          <p:nvPr/>
        </p:nvSpPr>
        <p:spPr>
          <a:xfrm xmlns:a="http://schemas.openxmlformats.org/drawingml/2006/main">
            <a:off x="7620000" y="19716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MIX / k€</a:t>
            </a:r>
          </a:p>
        </p:txBody>
      </p:sp>
      <p:sp>
        <p:nvSpPr>
          <p:cNvPr id="12" name="kpi-value-2">
            <a:extLst xmlns:a="http://schemas.openxmlformats.org/drawingml/2006/main">
              <a:ext uri="{FF2B5EF4-FFF2-40B4-BE49-F238E27FC236}">
                <a16:creationId xmlns:a16="http://schemas.microsoft.com/office/drawing/2014/main" id="{B589BDDC-D820-4ABA-9549-20C8B0A63A25}"/>
              </a:ext>
            </a:extLst>
          </p:cNvPr>
          <p:cNvSpPr>
            <a:spLocks xmlns:a="http://schemas.openxmlformats.org/drawingml/2006/main" noGrp="1"/>
          </p:cNvSpPr>
          <p:nvPr/>
        </p:nvSpPr>
        <p:spPr>
          <a:xfrm xmlns:a="http://schemas.openxmlformats.org/drawingml/2006/main">
            <a:off x="7620000" y="22383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17221F"/>
                </a:solidFill>
                <a:latin typeface="Arial"/>
                <a:ea typeface="Arial"/>
                <a:cs typeface="Arial"/>
              </a:defRPr>
            </a:pPr>
            <a:r>
              <a:rPr sz="2700" b="1">
                <a:solidFill>
                  <a:srgbClr val="17221F"/>
                </a:solidFill>
                <a:latin typeface="Arial"/>
                <a:ea typeface="Arial"/>
                <a:cs typeface="Arial"/>
              </a:rPr>
              <a:t>+182</a:t>
            </a:r>
          </a:p>
        </p:txBody>
      </p:sp>
      <p:sp>
        <p:nvSpPr>
          <p:cNvPr id="13" name="kpi-label-3">
            <a:extLst xmlns:a="http://schemas.openxmlformats.org/drawingml/2006/main">
              <a:ext uri="{FF2B5EF4-FFF2-40B4-BE49-F238E27FC236}">
                <a16:creationId xmlns:a16="http://schemas.microsoft.com/office/drawing/2014/main" id="{DCBE6ACF-943B-49F9-9132-F8A6530CCA80}"/>
              </a:ext>
            </a:extLst>
          </p:cNvPr>
          <p:cNvSpPr>
            <a:spLocks xmlns:a="http://schemas.openxmlformats.org/drawingml/2006/main" noGrp="1"/>
          </p:cNvSpPr>
          <p:nvPr/>
        </p:nvSpPr>
        <p:spPr>
          <a:xfrm xmlns:a="http://schemas.openxmlformats.org/drawingml/2006/main">
            <a:off x="11125200" y="19716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54625D"/>
                </a:solidFill>
                <a:latin typeface="Arial"/>
                <a:ea typeface="Arial"/>
                <a:cs typeface="Arial"/>
              </a:defRPr>
            </a:pPr>
            <a:r>
              <a:rPr sz="1200" b="1">
                <a:solidFill>
                  <a:srgbClr val="54625D"/>
                </a:solidFill>
                <a:latin typeface="Arial"/>
                <a:ea typeface="Arial"/>
                <a:cs typeface="Arial"/>
              </a:rPr>
              <a:t>VOLUME / k€</a:t>
            </a:r>
          </a:p>
        </p:txBody>
      </p:sp>
      <p:sp>
        <p:nvSpPr>
          <p:cNvPr id="14" name="kpi-value-3">
            <a:extLst xmlns:a="http://schemas.openxmlformats.org/drawingml/2006/main">
              <a:ext uri="{FF2B5EF4-FFF2-40B4-BE49-F238E27FC236}">
                <a16:creationId xmlns:a16="http://schemas.microsoft.com/office/drawing/2014/main" id="{0852B10C-B987-437B-A8E1-5F98878967A0}"/>
              </a:ext>
            </a:extLst>
          </p:cNvPr>
          <p:cNvSpPr>
            <a:spLocks xmlns:a="http://schemas.openxmlformats.org/drawingml/2006/main" noGrp="1"/>
          </p:cNvSpPr>
          <p:nvPr/>
        </p:nvSpPr>
        <p:spPr>
          <a:xfrm xmlns:a="http://schemas.openxmlformats.org/drawingml/2006/main">
            <a:off x="11125200" y="22383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087F72"/>
                </a:solidFill>
                <a:latin typeface="Arial"/>
                <a:ea typeface="Arial"/>
                <a:cs typeface="Arial"/>
              </a:defRPr>
            </a:pPr>
            <a:r>
              <a:rPr sz="2700" b="1">
                <a:solidFill>
                  <a:srgbClr val="087F72"/>
                </a:solidFill>
                <a:latin typeface="Arial"/>
                <a:ea typeface="Arial"/>
                <a:cs typeface="Arial"/>
              </a:rPr>
              <a:t>-4</a:t>
            </a:r>
          </a:p>
        </p:txBody>
      </p:sp>
      <p:sp>
        <p:nvSpPr>
          <p:cNvPr id="15" name="story-background">
            <a:extLst xmlns:a="http://schemas.openxmlformats.org/drawingml/2006/main">
              <a:ext uri="{FF2B5EF4-FFF2-40B4-BE49-F238E27FC236}">
                <a16:creationId xmlns:a16="http://schemas.microsoft.com/office/drawing/2014/main" id="{C97801DF-6795-44A4-9AE1-EF27EC59D232}"/>
              </a:ext>
            </a:extLst>
          </p:cNvPr>
          <p:cNvSpPr>
            <a:spLocks xmlns:a="http://schemas.openxmlformats.org/drawingml/2006/main" noGrp="1"/>
          </p:cNvSpPr>
          <p:nvPr/>
        </p:nvSpPr>
        <p:spPr>
          <a:xfrm xmlns:a="http://schemas.openxmlformats.org/drawingml/2006/main">
            <a:off x="609600" y="2828925"/>
            <a:ext cx="14020800" cy="733425"/>
          </a:xfrm>
          <a:prstGeom xmlns:a="http://schemas.openxmlformats.org/drawingml/2006/main" prst="rect">
            <a:avLst/>
          </a:prstGeom>
          <a:solidFill xmlns:a="http://schemas.openxmlformats.org/drawingml/2006/main">
            <a:srgbClr val="F1F4F2"/>
          </a:solidFill>
          <a:ln xmlns:a="http://schemas.openxmlformats.org/drawingml/2006/main" w="0">
            <a:noFill/>
          </a:ln>
        </p:spPr>
      </p:sp>
      <p:sp>
        <p:nvSpPr>
          <p:cNvPr id="16" name="country-story">
            <a:extLst xmlns:a="http://schemas.openxmlformats.org/drawingml/2006/main">
              <a:ext uri="{FF2B5EF4-FFF2-40B4-BE49-F238E27FC236}">
                <a16:creationId xmlns:a16="http://schemas.microsoft.com/office/drawing/2014/main" id="{B48FD484-B743-4810-86F8-1CA45022A46E}"/>
              </a:ext>
            </a:extLst>
          </p:cNvPr>
          <p:cNvSpPr>
            <a:spLocks xmlns:a="http://schemas.openxmlformats.org/drawingml/2006/main" noGrp="1"/>
          </p:cNvSpPr>
          <p:nvPr/>
        </p:nvSpPr>
        <p:spPr>
          <a:xfrm xmlns:a="http://schemas.openxmlformats.org/drawingml/2006/main">
            <a:off x="762000" y="2886075"/>
            <a:ext cx="13696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17221F"/>
                </a:solidFill>
                <a:latin typeface="Arial"/>
                <a:ea typeface="Arial"/>
                <a:cs typeface="Arial"/>
              </a:defRPr>
            </a:pPr>
            <a:r>
              <a:rPr sz="1725" b="0">
                <a:solidFill>
                  <a:srgbClr val="17221F"/>
                </a:solidFill>
                <a:latin typeface="Arial"/>
                <a:ea typeface="Arial"/>
                <a:cs typeface="Arial"/>
              </a:rPr>
              <a:t>Country A: Driven at the source by Product B1 (-80k€), driven by ASP compression (-190k€), partially offset by accretive mix dynamics (+182k€). Net -12k€.</a:t>
            </a:r>
          </a:p>
        </p:txBody>
      </p:sp>
      <p:sp>
        <p:nvSpPr>
          <p:cNvPr id="17" name="rank-heading">
            <a:extLst xmlns:a="http://schemas.openxmlformats.org/drawingml/2006/main">
              <a:ext uri="{FF2B5EF4-FFF2-40B4-BE49-F238E27FC236}">
                <a16:creationId xmlns:a16="http://schemas.microsoft.com/office/drawing/2014/main" id="{C7221A32-2526-494A-A8ED-CC727234F50D}"/>
              </a:ext>
            </a:extLst>
          </p:cNvPr>
          <p:cNvSpPr>
            <a:spLocks xmlns:a="http://schemas.openxmlformats.org/drawingml/2006/main" noGrp="1"/>
          </p:cNvSpPr>
          <p:nvPr/>
        </p:nvSpPr>
        <p:spPr>
          <a:xfrm xmlns:a="http://schemas.openxmlformats.org/drawingml/2006/main">
            <a:off x="609600" y="38290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17221F"/>
                </a:solidFill>
                <a:latin typeface="Arial"/>
                <a:ea typeface="Arial"/>
                <a:cs typeface="Arial"/>
              </a:defRPr>
            </a:pPr>
            <a:r>
              <a:rPr sz="1800" b="1">
                <a:solidFill>
                  <a:srgbClr val="17221F"/>
                </a:solidFill>
                <a:latin typeface="Arial"/>
                <a:ea typeface="Arial"/>
                <a:cs typeface="Arial"/>
              </a:rPr>
              <a:t>Top drivers by product segment</a:t>
            </a:r>
          </a:p>
        </p:txBody>
      </p:sp>
      <p:graphicFrame>
        <p:nvGraphicFramePr>
          <p:cNvPr id="42" name="Chart"/>
          <p:cNvGraphicFramePr/>
          <p:nvPr/>
        </p:nvGraphicFramePr>
        <p:xfrm>
          <a:off xmlns:a="http://schemas.openxmlformats.org/drawingml/2006/main" x="609600" y="4343400"/>
          <a:ext xmlns:a="http://schemas.openxmlformats.org/drawingml/2006/main" cx="4333875" cy="3571875"/>
        </p:xfrm>
        <a:graphic xmlns:a="http://schemas.openxmlformats.org/drawingml/2006/main">
          <a:graphicData uri="http://schemas.openxmlformats.org/drawingml/2006/chart">
            <c:chart xmlns:r="http://schemas.openxmlformats.org/officeDocument/2006/relationships" xmlns:c="http://schemas.openxmlformats.org/drawingml/2006/chart" r:id="Rf5d9ccbf852d4661"/>
          </a:graphicData>
        </a:graphic>
      </p:graphicFrame>
      <p:sp>
        <p:nvSpPr>
          <p:cNvPr id="19" name="pvm-a-heading">
            <a:extLst xmlns:a="http://schemas.openxmlformats.org/drawingml/2006/main">
              <a:ext uri="{FF2B5EF4-FFF2-40B4-BE49-F238E27FC236}">
                <a16:creationId xmlns:a16="http://schemas.microsoft.com/office/drawing/2014/main" id="{346BC2B3-4981-4AB7-BE78-9E44E40A73C8}"/>
              </a:ext>
            </a:extLst>
          </p:cNvPr>
          <p:cNvSpPr>
            <a:spLocks xmlns:a="http://schemas.openxmlformats.org/drawingml/2006/main" noGrp="1"/>
          </p:cNvSpPr>
          <p:nvPr/>
        </p:nvSpPr>
        <p:spPr>
          <a:xfrm xmlns:a="http://schemas.openxmlformats.org/drawingml/2006/main">
            <a:off x="5410200" y="3829050"/>
            <a:ext cx="426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17221F"/>
                </a:solidFill>
                <a:latin typeface="Arial"/>
                <a:ea typeface="Arial"/>
                <a:cs typeface="Arial"/>
              </a:defRPr>
            </a:pPr>
            <a:r>
              <a:rPr sz="1800" b="1">
                <a:solidFill>
                  <a:srgbClr val="17221F"/>
                </a:solidFill>
                <a:latin typeface="Arial"/>
                <a:ea typeface="Arial"/>
                <a:cs typeface="Arial"/>
              </a:rPr>
              <a:t>Segment A PVM analysis</a:t>
            </a:r>
          </a:p>
        </p:txBody>
      </p:sp>
      <p:sp>
        <p:nvSpPr>
          <p:cNvPr id="20" name="pvm-g-heading">
            <a:extLst xmlns:a="http://schemas.openxmlformats.org/drawingml/2006/main">
              <a:ext uri="{FF2B5EF4-FFF2-40B4-BE49-F238E27FC236}">
                <a16:creationId xmlns:a16="http://schemas.microsoft.com/office/drawing/2014/main" id="{494AFFC3-10F9-4A2B-B7E6-DE59264AF7E7}"/>
              </a:ext>
            </a:extLst>
          </p:cNvPr>
          <p:cNvSpPr>
            <a:spLocks xmlns:a="http://schemas.openxmlformats.org/drawingml/2006/main" noGrp="1"/>
          </p:cNvSpPr>
          <p:nvPr/>
        </p:nvSpPr>
        <p:spPr>
          <a:xfrm xmlns:a="http://schemas.openxmlformats.org/drawingml/2006/main">
            <a:off x="10096500" y="3829050"/>
            <a:ext cx="453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17221F"/>
                </a:solidFill>
                <a:latin typeface="Arial"/>
                <a:ea typeface="Arial"/>
                <a:cs typeface="Arial"/>
              </a:defRPr>
            </a:pPr>
            <a:r>
              <a:rPr sz="1800" b="1">
                <a:solidFill>
                  <a:srgbClr val="17221F"/>
                </a:solidFill>
                <a:latin typeface="Arial"/>
                <a:ea typeface="Arial"/>
                <a:cs typeface="Arial"/>
              </a:rPr>
              <a:t>Segment G PVM analysis</a:t>
            </a:r>
          </a:p>
        </p:txBody>
      </p:sp>
      <p:graphicFrame>
        <p:nvGraphicFramePr>
          <p:cNvPr id="45" name="Chart"/>
          <p:cNvGraphicFramePr/>
          <p:nvPr/>
        </p:nvGraphicFramePr>
        <p:xfrm>
          <a:off xmlns:a="http://schemas.openxmlformats.org/drawingml/2006/main" x="5314950" y="4314825"/>
          <a:ext xmlns:a="http://schemas.openxmlformats.org/drawingml/2006/main" cx="4419600" cy="2181225"/>
        </p:xfrm>
        <a:graphic xmlns:a="http://schemas.openxmlformats.org/drawingml/2006/main">
          <a:graphicData uri="http://schemas.openxmlformats.org/drawingml/2006/chart">
            <c:chart xmlns:r="http://schemas.openxmlformats.org/officeDocument/2006/relationships" xmlns:c="http://schemas.openxmlformats.org/drawingml/2006/chart" r:id="Rbcfb4309909848b5"/>
          </a:graphicData>
        </a:graphic>
      </p:graphicFrame>
      <p:graphicFrame>
        <p:nvGraphicFramePr>
          <p:cNvPr id="46" name="Chart"/>
          <p:cNvGraphicFramePr/>
          <p:nvPr/>
        </p:nvGraphicFramePr>
        <p:xfrm>
          <a:off xmlns:a="http://schemas.openxmlformats.org/drawingml/2006/main" x="10001250" y="4314825"/>
          <a:ext xmlns:a="http://schemas.openxmlformats.org/drawingml/2006/main" cx="4629150" cy="2181225"/>
        </p:xfrm>
        <a:graphic xmlns:a="http://schemas.openxmlformats.org/drawingml/2006/main">
          <a:graphicData uri="http://schemas.openxmlformats.org/drawingml/2006/chart">
            <c:chart xmlns:r="http://schemas.openxmlformats.org/officeDocument/2006/relationships" xmlns:c="http://schemas.openxmlformats.org/drawingml/2006/chart" r:id="Rd6f5afb97a454b7b"/>
          </a:graphicData>
        </a:graphic>
      </p:graphicFrame>
      <p:graphicFrame>
        <p:nvGraphicFramePr>
          <p:cNvPr id="47" name=""/>
          <p:cNvGraphicFramePr/>
          <p:nvPr/>
        </p:nvGraphicFramePr>
        <p:xfrm>
          <a:off xmlns:a="http://schemas.openxmlformats.org/drawingml/2006/main" x="5410200" y="6724650"/>
          <a:ext xmlns:a="http://schemas.openxmlformats.org/drawingml/2006/main" cx="9220200" cy="1333500"/>
        </p:xfrm>
        <a:graphic xmlns:a="http://schemas.openxmlformats.org/drawingml/2006/main">
          <a:graphicData uri="http://schemas.openxmlformats.org/drawingml/2006/table">
            <a:tbl>
              <a:tblPr firstRow="0" bandRow="0"/>
              <a:tblGrid>
                <a:gridCol w="2076450"/>
                <a:gridCol w="1190625"/>
                <a:gridCol w="1190625"/>
                <a:gridCol w="1190625"/>
                <a:gridCol w="1190625"/>
                <a:gridCol w="1190625"/>
                <a:gridCol w="1190625"/>
              </a:tblGrid>
              <a:tr h="266700">
                <a:tc>
                  <a:txBody>
                    <a:bodyPr lIns="95250" tIns="38100" rIns="95250" bIns="38100">
                      <a:noAutofit/>
                    </a:bodyPr>
                    <a:lstStyle/>
                    <a:p>
                      <a:pPr algn="l"/>
                      <a:r>
                        <a:rPr sz="1275" b="1">
                          <a:solidFill>
                            <a:srgbClr val="FFFFFF"/>
                          </a:solidFill>
                          <a:latin typeface="Arial"/>
                          <a:ea typeface="Arial"/>
                          <a:cs typeface="Arial"/>
                        </a:rPr>
                        <a:t>Actuals</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275" b="1">
                          <a:solidFill>
                            <a:srgbClr val="FFFFFF"/>
                          </a:solidFill>
                          <a:latin typeface="Arial"/>
                          <a:ea typeface="Arial"/>
                          <a:cs typeface="Arial"/>
                        </a:rPr>
                        <a:t>CM1</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275" b="1">
                          <a:solidFill>
                            <a:srgbClr val="FFFFFF"/>
                          </a:solidFill>
                          <a:latin typeface="Arial"/>
                          <a:ea typeface="Arial"/>
                          <a:cs typeface="Arial"/>
                        </a:rPr>
                        <a:t>Δ CM1</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275" b="1">
                          <a:solidFill>
                            <a:srgbClr val="FFFFFF"/>
                          </a:solidFill>
                          <a:latin typeface="Arial"/>
                          <a:ea typeface="Arial"/>
                          <a:cs typeface="Arial"/>
                        </a:rPr>
                        <a:t>Units</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275" b="1">
                          <a:solidFill>
                            <a:srgbClr val="FFFFFF"/>
                          </a:solidFill>
                          <a:latin typeface="Arial"/>
                          <a:ea typeface="Arial"/>
                          <a:cs typeface="Arial"/>
                        </a:rPr>
                        <a:t>Δ Units</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275" b="1">
                          <a:solidFill>
                            <a:srgbClr val="FFFFFF"/>
                          </a:solidFill>
                          <a:latin typeface="Arial"/>
                          <a:ea typeface="Arial"/>
                          <a:cs typeface="Arial"/>
                        </a:rPr>
                        <a:t>ASP</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275" b="1">
                          <a:solidFill>
                            <a:srgbClr val="FFFFFF"/>
                          </a:solidFill>
                          <a:latin typeface="Arial"/>
                          <a:ea typeface="Arial"/>
                          <a:cs typeface="Arial"/>
                        </a:rPr>
                        <a:t>Δ ASP</a:t>
                      </a:r>
                    </a:p>
                  </a:txBody>
                  <a:tcPr marL="91440" marR="91440" marT="45720" marB="45720" anchor="ctr">
                    <a:solidFill>
                      <a:srgbClr val="17221F"/>
                    </a:solidFill>
                    <a:lnL w="6350">
                      <a:solidFill>
                        <a:srgbClr val="FFFFFF"/>
                      </a:solidFill>
                    </a:lnL>
                    <a:lnR w="6350">
                      <a:solidFill>
                        <a:srgbClr val="FFFFFF"/>
                      </a:solidFill>
                    </a:lnR>
                    <a:lnT w="6350">
                      <a:solidFill>
                        <a:srgbClr val="FFFFFF"/>
                      </a:solidFill>
                    </a:lnT>
                    <a:lnB w="6350">
                      <a:solidFill>
                        <a:srgbClr val="FFFFFF"/>
                      </a:solidFill>
                    </a:lnB>
                  </a:tcPr>
                </a:tc>
              </a:tr>
              <a:tr h="266700">
                <a:tc>
                  <a:txBody>
                    <a:bodyPr lIns="95250" tIns="38100" rIns="95250" bIns="38100">
                      <a:noAutofit/>
                    </a:bodyPr>
                    <a:lstStyle/>
                    <a:p>
                      <a:pPr algn="l"/>
                      <a:r>
                        <a:rPr sz="1350" b="0">
                          <a:solidFill>
                            <a:srgbClr val="17221F"/>
                          </a:solidFill>
                          <a:latin typeface="Arial"/>
                          <a:ea typeface="Arial"/>
                          <a:cs typeface="Arial"/>
                        </a:rPr>
                        <a:t>Product A1</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5,100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+94</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2,400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-55</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2,350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+18</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r>
              <a:tr h="266700">
                <a:tc>
                  <a:txBody>
                    <a:bodyPr lIns="95250" tIns="38100" rIns="95250" bIns="38100">
                      <a:noAutofit/>
                    </a:bodyPr>
                    <a:lstStyle/>
                    <a:p>
                      <a:pPr algn="l"/>
                      <a:r>
                        <a:rPr sz="1350" b="0">
                          <a:solidFill>
                            <a:srgbClr val="17221F"/>
                          </a:solidFill>
                          <a:latin typeface="Arial"/>
                          <a:ea typeface="Arial"/>
                          <a:cs typeface="Arial"/>
                        </a:rPr>
                        <a:t>Product A2</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820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-4</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420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-3</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2,160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+7</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266700">
                <a:tc>
                  <a:txBody>
                    <a:bodyPr lIns="95250" tIns="38100" rIns="95250" bIns="38100">
                      <a:noAutofit/>
                    </a:bodyPr>
                    <a:lstStyle/>
                    <a:p>
                      <a:pPr algn="l"/>
                      <a:r>
                        <a:rPr sz="1350" b="0">
                          <a:solidFill>
                            <a:srgbClr val="17221F"/>
                          </a:solidFill>
                          <a:latin typeface="Arial"/>
                          <a:ea typeface="Arial"/>
                          <a:cs typeface="Arial"/>
                        </a:rPr>
                        <a:t>Product G1</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98</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-45</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980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+65</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310</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+26</a:t>
                      </a:r>
                    </a:p>
                  </a:txBody>
                  <a:tcPr marL="91440" marR="91440" marT="45720" marB="45720" anchor="ctr">
                    <a:solidFill>
                      <a:srgbClr val="F1F4F2"/>
                    </a:solidFill>
                    <a:lnL w="6350">
                      <a:solidFill>
                        <a:srgbClr val="FFFFFF"/>
                      </a:solidFill>
                    </a:lnL>
                    <a:lnR w="6350">
                      <a:solidFill>
                        <a:srgbClr val="FFFFFF"/>
                      </a:solidFill>
                    </a:lnR>
                    <a:lnT w="6350">
                      <a:solidFill>
                        <a:srgbClr val="FFFFFF"/>
                      </a:solidFill>
                    </a:lnT>
                    <a:lnB w="6350">
                      <a:solidFill>
                        <a:srgbClr val="FFFFFF"/>
                      </a:solidFill>
                    </a:lnB>
                  </a:tcPr>
                </a:tc>
              </a:tr>
              <a:tr h="266700">
                <a:tc>
                  <a:txBody>
                    <a:bodyPr lIns="95250" tIns="38100" rIns="95250" bIns="38100">
                      <a:noAutofit/>
                    </a:bodyPr>
                    <a:lstStyle/>
                    <a:p>
                      <a:pPr algn="l"/>
                      <a:r>
                        <a:rPr sz="1350" b="0">
                          <a:solidFill>
                            <a:srgbClr val="17221F"/>
                          </a:solidFill>
                          <a:latin typeface="Arial"/>
                          <a:ea typeface="Arial"/>
                          <a:cs typeface="Arial"/>
                        </a:rPr>
                        <a:t>Product G2</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44</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-25</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580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-320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340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lIns="95250" tIns="38100" rIns="95250" bIns="38100">
                      <a:noAutofit/>
                    </a:bodyPr>
                    <a:lstStyle/>
                    <a:p>
                      <a:pPr algn="r"/>
                      <a:r>
                        <a:rPr sz="1350" b="0">
                          <a:solidFill>
                            <a:srgbClr val="17221F"/>
                          </a:solidFill>
                          <a:latin typeface="Arial"/>
                          <a:ea typeface="Arial"/>
                          <a:cs typeface="Arial"/>
                        </a:rPr>
                        <a:t>+120</a:t>
                      </a:r>
                    </a:p>
                  </a:txBody>
                  <a:tcPr marL="91440" marR="91440" marT="45720" marB="45720"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24" name="rank-units">
            <a:extLst xmlns:a="http://schemas.openxmlformats.org/drawingml/2006/main">
              <a:ext uri="{FF2B5EF4-FFF2-40B4-BE49-F238E27FC236}">
                <a16:creationId xmlns:a16="http://schemas.microsoft.com/office/drawing/2014/main" id="{AD1AC722-7F1E-46DF-A9D7-5B012DBF8E54}"/>
              </a:ext>
            </a:extLst>
          </p:cNvPr>
          <p:cNvSpPr>
            <a:spLocks xmlns:a="http://schemas.openxmlformats.org/drawingml/2006/main" noGrp="1"/>
          </p:cNvSpPr>
          <p:nvPr/>
        </p:nvSpPr>
        <p:spPr>
          <a:xfrm xmlns:a="http://schemas.openxmlformats.org/drawingml/2006/main">
            <a:off x="609600" y="7886700"/>
            <a:ext cx="433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4625D"/>
                </a:solidFill>
                <a:latin typeface="Arial"/>
                <a:ea typeface="Arial"/>
                <a:cs typeface="Arial"/>
              </a:defRPr>
            </a:pPr>
            <a:r>
              <a:rPr sz="1275" b="0">
                <a:solidFill>
                  <a:srgbClr val="54625D"/>
                </a:solidFill>
                <a:latin typeface="Arial"/>
                <a:ea typeface="Arial"/>
                <a:cs typeface="Arial"/>
              </a:rPr>
              <a:t>CM1 effects / k€</a:t>
            </a:r>
          </a:p>
        </p:txBody>
      </p:sp>
    </p:spTree>
    <p:extLst>
      <p:ext uri="{BB962C8B-B14F-4D97-AF65-F5344CB8AC3E}">
        <p14:creationId xmlns:p14="http://schemas.microsoft.com/office/powerpoint/2010/main" val="19034493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2026-09-08T20:30:12.7350000Z</dcterms:created>
  <dcterms:modified xsi:type="dcterms:W3CDTF">2026-09-08T20:30:12.7350000Z</dcterms:modified>
</coreProperties>
</file>